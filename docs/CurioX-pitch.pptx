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3182b08-858f-ca6f-971d-7a62b8f7f2c1}">
          <p14:sldIdLst>
            <p14:sldId id="256"/>
            <p14:sldId id="257"/>
          </p14:sldIdLst>
        </p14:section>
        <p14:section name="Why" id="{f138263b-a887-380b-0b7a-351529ae3dd1}">
          <p14:sldIdLst>
            <p14:sldId id="258"/>
          </p14:sldIdLst>
        </p14:section>
        <p14:section name="What" id="{0dcd1c6c-7a47-e886-c3f3-3de99d012ccb}">
          <p14:sldIdLst>
            <p14:sldId id="259"/>
          </p14:sldIdLst>
        </p14:section>
        <p14:section name="Product" id="{53bde192-482e-96d8-8b74-a751be866c28}">
          <p14:sldIdLst>
            <p14:sldId id="260"/>
            <p14:sldId id="261"/>
            <p14:sldId id="262"/>
          </p14:sldIdLst>
        </p14:section>
        <p14:section name="Talk and Ask" id="{c9f10f55-e093-4d09-311f-86e06a8e5cd2}">
          <p14:sldIdLst>
            <p14:sldId id="263"/>
            <p14:sldId id="264"/>
          </p14:sldIdLst>
        </p14:section>
        <p14:section name="Personal" id="{565d5068-e555-7085-d59d-0bef53714a75}">
          <p14:sldIdLst>
            <p14:sldId id="265"/>
          </p14:sldIdLst>
        </p14:section>
        <p14:section name="Tech" id="{0c2ce76c-fbc2-3eaf-6c12-b93ba231632e}">
          <p14:sldIdLst>
            <p14:sldId id="266"/>
          </p14:sldIdLst>
        </p14:section>
        <p14:section name="Business" id="{4cff28e2-777d-65ee-3a15-87cae60b73ae}">
          <p14:sldIdLst>
            <p14:sldId id="267"/>
          </p14:sldIdLst>
        </p14:section>
        <p14:section name="Closing" id="{8f230430-ea22-8099-ab64-247122141c20}">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 are Team cogniv8 and this is CurioX. One line: it is a learning companion that gets to know you, then every day explains what matters to you the way you learn best. Everything in this deck is clickable: yellow chips jump between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menu. In slideshow mode every card is a link, so we can take questions in any order. The numbers are slide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Noise: news without personal relevance. Flat: one explanation for everyone. Leaky: passive reading with no recall. Our learner follows a few topics and has ten minutes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The reader card is how it learns you. The daily issue is what you read. Make it stick is how we check understanding. Talk and Ask are how you go deeper, by voice or by text. No login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judge journey. The opening is the notification itself. Five questions take under a minute. The reader card shows what was learned. By the time you reach Home the first issue is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lead story becomes nine cards in a fixed rhythm: hook, what happened, why it matters to you, myth or fact, explain it three ways, this versus that, guess the number, watch it, finale. The three-ways card uses your own hobby as one of the explanations.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ends with a choice: quiz, teach it back, sources or a podcast summary. Teach it back is the one judges like: you type what you understood, it is marked honestly, and it adds the one thing you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is a guided, server-driven conversation: it opens with today, asks what you want, explains, asks your view, explains the impact, and chats until you wrap up. When you finish it keeps the key points and scores your interest, which feeds Home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is text. A router model decides whether to search; Tavily brings five results; the answer streams with citations. Learn actions are one tap. It always answers thanks to the provider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Personalisation is explicit and visible. Reading, asking and talking score a topic; at four points it joins your interests. The reader card is always editable, so nothing is hidden from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Express API serves the Expo app. Keys never reach the client. Groq is first because it is fast on the free tier; Gemini is the fallback; a labelled demo answer is the last resort, so the app always answers. Tavily does the searching and Whisper does speech to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people who follow a few topics. How we reach them: topic communities first, then creators whose feed becomes an issue. How it makes money: a free daily issue, a Plus subscription for Talk and podcasts, and a Teams tier. Costs are free tiers today and scale with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the left is live and in the repo on main. On the right is where we take it: notifications and sharing first, then spaced repetition from the quiz data, then the paid tiers.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Invite the judges to try it on their own phone: five questions and the first issue is ready.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058400" cy="8229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tx2"/>
                </a:solidFill>
                <a:latin typeface="Courier New" pitchFamily="34" charset="0"/>
                <a:ea typeface="Courier New" pitchFamily="34" charset="-122"/>
                <a:cs typeface="Courier New" pitchFamily="34" charset="-120"/>
              </a:rPr>
              <a:t>CurioX  ·  Team cogniv8  ·  Apty Hackathon 2026</a:t>
            </a:r>
            <a:endParaRPr lang="en-US" sz="10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3" Type="http://schemas.openxmlformats.org/officeDocument/2006/relationships/slide" Target="slide2.xml"/><Relationship Id="rId2" Type="http://schemas.openxmlformats.org/officeDocument/2006/relationships/image" Target="../media/image-1-1.jp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slide" Target="slide13.xml"/><Relationship Id="rId11" Type="http://schemas.openxmlformats.org/officeDocument/2006/relationships/slideLayout" Target="../slideLayouts/slideLayout3.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8.xml"/><Relationship Id="rId6" Type="http://schemas.openxmlformats.org/officeDocument/2006/relationships/slide" Target="slide5.xml"/><Relationship Id="rId7" Type="http://schemas.openxmlformats.org/officeDocument/2006/relationships/slide" Target="slide2.xml"/><Relationship Id="rId5" Type="http://schemas.openxmlformats.org/officeDocument/2006/relationships/image" Target="../media/image-4-1.jp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slide" Target="slide5.xml"/><Relationship Id="rId4" Type="http://schemas.openxmlformats.org/officeDocument/2006/relationships/slide" Target="slide5.xml"/><Relationship Id="rId6" Type="http://schemas.openxmlformats.org/officeDocument/2006/relationships/slide" Target="slide10.xml"/><Relationship Id="rId8" Type="http://schemas.openxmlformats.org/officeDocument/2006/relationships/slide" Target="slide6.xml"/><Relationship Id="rId9" Type="http://schemas.openxmlformats.org/officeDocument/2006/relationships/slide" Target="slide2.xml"/><Relationship Id="rId1" Type="http://schemas.openxmlformats.org/officeDocument/2006/relationships/image" Target="../media/image-5-1.jpg"/><Relationship Id="rId3" Type="http://schemas.openxmlformats.org/officeDocument/2006/relationships/image" Target="../media/image-5-2.jpg"/><Relationship Id="rId5" Type="http://schemas.openxmlformats.org/officeDocument/2006/relationships/image" Target="../media/image-5-3.jpg"/><Relationship Id="rId7" Type="http://schemas.openxmlformats.org/officeDocument/2006/relationships/image" Target="../media/image-5-4.jpg"/><Relationship Id="rId10" Type="http://schemas.openxmlformats.org/officeDocument/2006/relationships/slideLayout" Target="../slideLayouts/slideLayout3.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jp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8-1.jp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10-1.jpg"/><Relationship Id="rId2" Type="http://schemas.openxmlformats.org/officeDocument/2006/relationships/image" Target="../media/image-10-2.jp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github.com/surya16495/hackathon-cogniv8-CurioX" TargetMode="External"/><Relationship Id="rId2" Type="http://schemas.openxmlformats.org/officeDocument/2006/relationships/slide" Target="slide2.xml"/><Relationship Id="rId4" Type="http://schemas.openxmlformats.org/officeDocument/2006/relationships/slide" Target="slide5.xml"/><Relationship Id="rId3" Type="http://schemas.openxmlformats.org/officeDocument/2006/relationships/image" Target="../media/image-14-1.jp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wordmark"/>
          <p:cNvSpPr txBox="1"/>
          <p:nvPr/>
        </p:nvSpPr>
        <p:spPr>
          <a:xfrm>
            <a:off x="640080" y="1554480"/>
            <a:ext cx="6858000" cy="1371600"/>
          </a:xfrm>
          <a:prstGeom prst="rect">
            <a:avLst/>
          </a:prstGeom>
          <a:noFill/>
          <a:ln/>
        </p:spPr>
        <p:txBody>
          <a:bodyPr wrap="square" lIns="0" tIns="0" rIns="0" bIns="0" rtlCol="0" anchor="ctr"/>
          <a:lstStyle/>
          <a:p>
            <a:pPr indent="0" marL="0">
              <a:buNone/>
            </a:pPr>
            <a:r>
              <a:rPr lang="en-US" sz="8000" b="1" dirty="0">
                <a:solidFill>
                  <a:schemeClr val="accent1"/>
                </a:solidFill>
              </a:rPr>
              <a:t>CurioX</a:t>
            </a:r>
            <a:endParaRPr lang="en-US" sz="8000" dirty="0"/>
          </a:p>
        </p:txBody>
      </p:sp>
      <p:sp>
        <p:nvSpPr>
          <p:cNvPr id="3" name="tagline"/>
          <p:cNvSpPr txBox="1"/>
          <p:nvPr/>
        </p:nvSpPr>
        <p:spPr>
          <a:xfrm>
            <a:off x="640080" y="3017520"/>
            <a:ext cx="6583680" cy="1188720"/>
          </a:xfrm>
          <a:prstGeom prst="rect">
            <a:avLst/>
          </a:prstGeom>
          <a:noFill/>
          <a:ln/>
        </p:spPr>
        <p:txBody>
          <a:bodyPr wrap="square" lIns="0" tIns="0" rIns="0" bIns="0" rtlCol="0" anchor="ctr"/>
          <a:lstStyle/>
          <a:p>
            <a:pPr indent="0" marL="0">
              <a:buNone/>
            </a:pPr>
            <a:r>
              <a:rPr lang="en-US" sz="2600" dirty="0">
                <a:solidFill>
                  <a:schemeClr val="bg2"/>
                </a:solidFill>
              </a:rPr>
              <a:t>A daily issue of what you care about, explained the way you learn.</a:t>
            </a:r>
            <a:endParaRPr lang="en-US" sz="2600" dirty="0"/>
          </a:p>
        </p:txBody>
      </p:sp>
      <p:sp>
        <p:nvSpPr>
          <p:cNvPr id="4" name="byline"/>
          <p:cNvSpPr txBox="1"/>
          <p:nvPr/>
        </p:nvSpPr>
        <p:spPr>
          <a:xfrm>
            <a:off x="640080" y="4572000"/>
            <a:ext cx="6400800" cy="365760"/>
          </a:xfrm>
          <a:prstGeom prst="rect">
            <a:avLst/>
          </a:prstGeom>
          <a:noFill/>
          <a:ln/>
        </p:spPr>
        <p:txBody>
          <a:bodyPr wrap="square" lIns="0" tIns="0" rIns="0" bIns="0" rtlCol="0" anchor="ctr"/>
          <a:lstStyle/>
          <a:p>
            <a:pPr indent="0" marL="0">
              <a:buNone/>
            </a:pPr>
            <a:r>
              <a:rPr lang="en-US" sz="1400" dirty="0">
                <a:solidFill>
                  <a:schemeClr val="accent6"/>
                </a:solidFill>
                <a:latin typeface="Courier New" pitchFamily="34" charset="0"/>
                <a:ea typeface="Courier New" pitchFamily="34" charset="-122"/>
                <a:cs typeface="Courier New" pitchFamily="34" charset="-120"/>
              </a:rPr>
              <a:t>Team cogniv8  ·  Apty Hackathon 2026</a:t>
            </a:r>
            <a:endParaRPr lang="en-US" sz="1400" dirty="0"/>
          </a:p>
        </p:txBody>
      </p:sp>
      <p:sp>
        <p:nvSpPr>
          <p:cNvPr id="5" name="hint"/>
          <p:cNvSpPr txBox="1"/>
          <p:nvPr/>
        </p:nvSpPr>
        <p:spPr>
          <a:xfrm>
            <a:off x="640080" y="5029200"/>
            <a:ext cx="6400800" cy="365760"/>
          </a:xfrm>
          <a:prstGeom prst="rect">
            <a:avLst/>
          </a:prstGeom>
          <a:noFill/>
          <a:ln/>
        </p:spPr>
        <p:txBody>
          <a:bodyPr wrap="square" lIns="0" tIns="0" rIns="0" bIns="0" rtlCol="0" anchor="ctr"/>
          <a:lstStyle/>
          <a:p>
            <a:pPr indent="0" marL="0">
              <a:buNone/>
            </a:pPr>
            <a:r>
              <a:rPr lang="en-US" sz="1300" i="1" dirty="0">
                <a:solidFill>
                  <a:schemeClr val="accent1"/>
                </a:solidFill>
              </a:rPr>
              <a:t>Tap anything yellow in the deck to jump around.</a:t>
            </a:r>
            <a:endParaRPr lang="en-US" sz="1300" dirty="0"/>
          </a:p>
        </p:txBody>
      </p:sp>
      <p:sp>
        <p:nvSpPr>
          <p:cNvPr id="6" name="chip Start the tour"/>
          <p:cNvSpPr/>
          <p:nvPr/>
        </p:nvSpPr>
        <p:spPr>
          <a:xfrm>
            <a:off x="640080" y="5577840"/>
            <a:ext cx="1828800" cy="475488"/>
          </a:xfrm>
          <a:prstGeom prst="roundRect">
            <a:avLst>
              <a:gd name="adj" fmla="val 23077"/>
            </a:avLst>
          </a:prstGeom>
          <a:solidFill>
            <a:schemeClr val="accent1"/>
          </a:solidFill>
          <a:ln w="12700">
            <a:solidFill>
              <a:schemeClr val="accent1"/>
            </a:solidFill>
            <a:prstDash val="solid"/>
          </a:ln>
          <a:effectLst>
            <a:outerShdw sx="100000" sy="100000" kx="0" ky="0" algn="bl" rotWithShape="0" blurRad="76200" dist="25400" dir="5400000">
              <a:srgbClr val="141310">
                <a:alpha val="18000"/>
              </a:srgbClr>
            </a:outerShdw>
          </a:effectLst>
        </p:spPr>
      </p:sp>
      <p:sp>
        <p:nvSpPr>
          <p:cNvPr id="7" name="chip Start the tour label">
            <a:hlinkClick r:id="rId1" tooltip="Go to the contents" action="ppaction://hlinksldjump"/>
          </p:cNvPr>
          <p:cNvSpPr txBox="1"/>
          <p:nvPr/>
        </p:nvSpPr>
        <p:spPr>
          <a:xfrm>
            <a:off x="640080" y="5577840"/>
            <a:ext cx="1828800" cy="475488"/>
          </a:xfrm>
          <a:prstGeom prst="rect">
            <a:avLst/>
          </a:prstGeom>
          <a:noFill/>
          <a:ln/>
        </p:spPr>
        <p:txBody>
          <a:bodyPr wrap="square" lIns="0" tIns="0" rIns="0" bIns="0" rtlCol="0" anchor="ctr"/>
          <a:lstStyle/>
          <a:p>
            <a:pPr algn="ctr" indent="0" marL="0">
              <a:buNone/>
            </a:pPr>
            <a:r>
              <a:rPr lang="en-US" sz="1300" b="1" u="sng" dirty="0">
                <a:solidFill>
                  <a:schemeClr val="tx1"/>
                </a:solidFill>
                <a:hlinkClick r:id="rId1" action="ppaction://hlinksldjump" tooltip="Go to the contents">
                  <a:extLst>
                    <a:ext uri="{A12FA001-AC4F-418D-AE19-62706E023703}">
                      <ahyp:hlinkClr xmlns:ahyp="http://schemas.microsoft.com/office/drawing/2018/hyperlinkcolor" val="tx"/>
                    </a:ext>
                  </a:extLst>
                </a:hlinkClick>
              </a:rPr>
              <a:t>Start the tour</a:t>
            </a:r>
            <a:endParaRPr lang="en-US" sz="1300" dirty="0"/>
          </a:p>
        </p:txBody>
      </p:sp>
      <p:sp>
        <p:nvSpPr>
          <p:cNvPr id="8" name="07-home frame"/>
          <p:cNvSpPr/>
          <p:nvPr/>
        </p:nvSpPr>
        <p:spPr>
          <a:xfrm>
            <a:off x="8714232" y="621792"/>
            <a:ext cx="2663201" cy="5614416"/>
          </a:xfrm>
          <a:prstGeom prst="roundRect">
            <a:avLst>
              <a:gd name="adj" fmla="val 7554"/>
            </a:avLst>
          </a:prstGeom>
          <a:solidFill>
            <a:schemeClr val="tx1"/>
          </a:solidFill>
          <a:ln/>
          <a:effectLst>
            <a:outerShdw sx="100000" sy="100000" kx="0" ky="0" algn="bl" rotWithShape="0" blurRad="76200" dist="25400" dir="5400000">
              <a:srgbClr val="141310">
                <a:alpha val="18000"/>
              </a:srgbClr>
            </a:outerShdw>
          </a:effectLst>
        </p:spPr>
      </p:sp>
      <p:pic>
        <p:nvPicPr>
          <p:cNvPr id="9" name="07-home screen" descr="/private/tmp/claude-502/-Users-surya-Desktop-Hackathon-Team-cogniv8--F-/77fb1a42-404d-4abc-a9b4-2d62a58e4298/scratchpad/deck/img/07-home.jpg">
            <a:hlinkClick r:id="rId3" tooltip="Go to the contents" action="ppaction://hlinksldjump"/>
          </p:cNvPr>
          <p:cNvPicPr>
            <a:picLocks noChangeAspect="1"/>
          </p:cNvPicPr>
          <p:nvPr/>
        </p:nvPicPr>
        <p:blipFill>
          <a:blip r:embed="rId2"/>
          <a:stretch>
            <a:fillRect/>
          </a:stretch>
        </p:blipFill>
        <p:spPr>
          <a:xfrm>
            <a:off x="8778240" y="685800"/>
            <a:ext cx="2535185" cy="5486400"/>
          </a:xfrm>
          <a:prstGeom prst="rect">
            <a:avLst/>
          </a:prstGeom>
        </p:spPr>
      </p:pic>
      <p:sp>
        <p:nvSpPr>
          <p:cNvPr id="10" name="stamp NEW"/>
          <p:cNvSpPr/>
          <p:nvPr/>
        </p:nvSpPr>
        <p:spPr>
          <a:xfrm>
            <a:off x="8092440" y="365760"/>
            <a:ext cx="914400" cy="914400"/>
          </a:xfrm>
          <a:prstGeom prst="ellipse">
            <a:avLst/>
          </a:prstGeom>
          <a:solidFill>
            <a:schemeClr val="accent1"/>
          </a:solidFill>
          <a:ln w="12700">
            <a:solidFill>
              <a:schemeClr val="accent1"/>
            </a:solidFill>
            <a:prstDash val="solid"/>
          </a:ln>
        </p:spPr>
      </p:sp>
      <p:sp>
        <p:nvSpPr>
          <p:cNvPr id="11" name="stamp NEW label"/>
          <p:cNvSpPr txBox="1"/>
          <p:nvPr/>
        </p:nvSpPr>
        <p:spPr>
          <a:xfrm>
            <a:off x="8092440" y="365760"/>
            <a:ext cx="914400" cy="914400"/>
          </a:xfrm>
          <a:prstGeom prst="rect">
            <a:avLst/>
          </a:prstGeom>
          <a:noFill/>
          <a:ln/>
        </p:spPr>
        <p:txBody>
          <a:bodyPr wrap="square" lIns="0" tIns="0" rIns="0" bIns="0" rtlCol="0" anchor="ctr"/>
          <a:lstStyle/>
          <a:p>
            <a:pPr algn="ctr" indent="0" marL="0">
              <a:buNone/>
            </a:pPr>
            <a:r>
              <a:rPr lang="en-US" sz="1800" b="1" dirty="0">
                <a:solidFill>
                  <a:schemeClr val="tx1"/>
                </a:solidFill>
              </a:rPr>
              <a:t>NEW</a:t>
            </a:r>
            <a:endParaRPr lang="en-US" sz="18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058400" cy="822960"/>
          </a:xfrm>
          <a:prstGeom prst="rect">
            <a:avLst/>
          </a:prstGeom>
          <a:noFill/>
          <a:ln/>
        </p:spPr>
        <p:txBody>
          <a:bodyPr wrap="square" lIns="0" tIns="0" rIns="0" bIns="0" rtlCol="0" anchor="ctr"/>
          <a:lstStyle/>
          <a:p>
            <a:pPr algn="l" indent="0" marL="0">
              <a:buNone/>
            </a:pPr>
            <a:r>
              <a:rPr lang="en-US" sz="3000" b="1" dirty="0">
                <a:solidFill>
                  <a:schemeClr val="tx1"/>
                </a:solidFill>
              </a:rPr>
              <a:t>Contents. Tap a card to jump there</a:t>
            </a:r>
            <a:endParaRPr lang="en-US" sz="3000" dirty="0"/>
          </a:p>
        </p:txBody>
      </p:sp>
      <p:sp>
        <p:nvSpPr>
          <p:cNvPr id="3" name="menu The problem"/>
          <p:cNvSpPr/>
          <p:nvPr/>
        </p:nvSpPr>
        <p:spPr>
          <a:xfrm>
            <a:off x="548640" y="1371600"/>
            <a:ext cx="5349240" cy="841248"/>
          </a:xfrm>
          <a:prstGeom prst="roundRect">
            <a:avLst>
              <a:gd name="adj" fmla="val 19565"/>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4" name="stamp 3"/>
          <p:cNvSpPr/>
          <p:nvPr/>
        </p:nvSpPr>
        <p:spPr>
          <a:xfrm>
            <a:off x="713232" y="1527048"/>
            <a:ext cx="530352" cy="530352"/>
          </a:xfrm>
          <a:prstGeom prst="ellipse">
            <a:avLst/>
          </a:prstGeom>
          <a:solidFill>
            <a:schemeClr val="tx1"/>
          </a:solidFill>
          <a:ln w="12700">
            <a:solidFill>
              <a:schemeClr val="tx1"/>
            </a:solidFill>
            <a:prstDash val="solid"/>
          </a:ln>
        </p:spPr>
      </p:sp>
      <p:sp>
        <p:nvSpPr>
          <p:cNvPr id="5" name="stamp 3 label"/>
          <p:cNvSpPr txBox="1"/>
          <p:nvPr/>
        </p:nvSpPr>
        <p:spPr>
          <a:xfrm>
            <a:off x="713232" y="1527048"/>
            <a:ext cx="530352" cy="530352"/>
          </a:xfrm>
          <a:prstGeom prst="rect">
            <a:avLst/>
          </a:prstGeom>
          <a:noFill/>
          <a:ln/>
        </p:spPr>
        <p:txBody>
          <a:bodyPr wrap="square" lIns="0" tIns="0" rIns="0" bIns="0" rtlCol="0" anchor="ctr"/>
          <a:lstStyle/>
          <a:p>
            <a:pPr algn="ctr" indent="0" marL="0">
              <a:buNone/>
            </a:pPr>
            <a:r>
              <a:rPr lang="en-US" sz="1600" b="1" dirty="0">
                <a:solidFill>
                  <a:schemeClr val="bg2"/>
                </a:solidFill>
              </a:rPr>
              <a:t>3</a:t>
            </a:r>
            <a:endParaRPr lang="en-US" sz="1600" dirty="0"/>
          </a:p>
        </p:txBody>
      </p:sp>
      <p:sp>
        <p:nvSpPr>
          <p:cNvPr id="6" name="menu The problem title">
            <a:hlinkClick r:id="rId1" tooltip="Go to The problem" action="ppaction://hlinksldjump"/>
          </p:cNvPr>
          <p:cNvSpPr txBox="1"/>
          <p:nvPr/>
        </p:nvSpPr>
        <p:spPr>
          <a:xfrm>
            <a:off x="1417320" y="1481328"/>
            <a:ext cx="4343400" cy="329184"/>
          </a:xfrm>
          <a:prstGeom prst="rect">
            <a:avLst/>
          </a:prstGeom>
          <a:noFill/>
          <a:ln/>
        </p:spPr>
        <p:txBody>
          <a:bodyPr wrap="square" lIns="0" tIns="0" rIns="0" bIns="0" rtlCol="0" anchor="ctr"/>
          <a:lstStyle/>
          <a:p>
            <a:pPr indent="0" marL="0">
              <a:buNone/>
            </a:pPr>
            <a:r>
              <a:rPr lang="en-US" sz="1600" b="1" u="sng" dirty="0">
                <a:solidFill>
                  <a:schemeClr val="tx1"/>
                </a:solidFill>
                <a:hlinkClick r:id="rId1" action="ppaction://hlinksldjump" tooltip="Go to The problem">
                  <a:extLst>
                    <a:ext uri="{A12FA001-AC4F-418D-AE19-62706E023703}">
                      <ahyp:hlinkClr xmlns:ahyp="http://schemas.microsoft.com/office/drawing/2018/hyperlinkcolor" val="tx"/>
                    </a:ext>
                  </a:extLst>
                </a:hlinkClick>
              </a:rPr>
              <a:t>The problem</a:t>
            </a:r>
            <a:endParaRPr lang="en-US" sz="1600" dirty="0"/>
          </a:p>
        </p:txBody>
      </p:sp>
      <p:sp>
        <p:nvSpPr>
          <p:cNvPr id="7" name="menu The problem sub"/>
          <p:cNvSpPr txBox="1"/>
          <p:nvPr/>
        </p:nvSpPr>
        <p:spPr>
          <a:xfrm>
            <a:off x="1417320" y="1810512"/>
            <a:ext cx="4343400" cy="329184"/>
          </a:xfrm>
          <a:prstGeom prst="rect">
            <a:avLst/>
          </a:prstGeom>
          <a:noFill/>
          <a:ln/>
        </p:spPr>
        <p:txBody>
          <a:bodyPr wrap="square" lIns="0" tIns="0" rIns="0" bIns="0" rtlCol="0" anchor="ctr"/>
          <a:lstStyle/>
          <a:p>
            <a:pPr indent="0" marL="0">
              <a:buNone/>
            </a:pPr>
            <a:r>
              <a:rPr lang="en-US" sz="1200" dirty="0">
                <a:solidFill>
                  <a:schemeClr val="tx2"/>
                </a:solidFill>
              </a:rPr>
              <a:t>Feeds are endless, answers are flat, nothing sticks</a:t>
            </a:r>
            <a:endParaRPr lang="en-US" sz="1200" dirty="0"/>
          </a:p>
        </p:txBody>
      </p:sp>
      <p:sp>
        <p:nvSpPr>
          <p:cNvPr id="8" name="menu What CurioX is"/>
          <p:cNvSpPr/>
          <p:nvPr/>
        </p:nvSpPr>
        <p:spPr>
          <a:xfrm>
            <a:off x="6355080" y="1371600"/>
            <a:ext cx="5349240" cy="841248"/>
          </a:xfrm>
          <a:prstGeom prst="roundRect">
            <a:avLst>
              <a:gd name="adj" fmla="val 19565"/>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9" name="stamp 4"/>
          <p:cNvSpPr/>
          <p:nvPr/>
        </p:nvSpPr>
        <p:spPr>
          <a:xfrm>
            <a:off x="6519672" y="1527048"/>
            <a:ext cx="530352" cy="530352"/>
          </a:xfrm>
          <a:prstGeom prst="ellipse">
            <a:avLst/>
          </a:prstGeom>
          <a:solidFill>
            <a:schemeClr val="tx1"/>
          </a:solidFill>
          <a:ln w="12700">
            <a:solidFill>
              <a:schemeClr val="tx1"/>
            </a:solidFill>
            <a:prstDash val="solid"/>
          </a:ln>
        </p:spPr>
      </p:sp>
      <p:sp>
        <p:nvSpPr>
          <p:cNvPr id="10" name="stamp 4 label"/>
          <p:cNvSpPr txBox="1"/>
          <p:nvPr/>
        </p:nvSpPr>
        <p:spPr>
          <a:xfrm>
            <a:off x="6519672" y="1527048"/>
            <a:ext cx="530352" cy="530352"/>
          </a:xfrm>
          <a:prstGeom prst="rect">
            <a:avLst/>
          </a:prstGeom>
          <a:noFill/>
          <a:ln/>
        </p:spPr>
        <p:txBody>
          <a:bodyPr wrap="square" lIns="0" tIns="0" rIns="0" bIns="0" rtlCol="0" anchor="ctr"/>
          <a:lstStyle/>
          <a:p>
            <a:pPr algn="ctr" indent="0" marL="0">
              <a:buNone/>
            </a:pPr>
            <a:r>
              <a:rPr lang="en-US" sz="1600" b="1" dirty="0">
                <a:solidFill>
                  <a:schemeClr val="bg2"/>
                </a:solidFill>
              </a:rPr>
              <a:t>4</a:t>
            </a:r>
            <a:endParaRPr lang="en-US" sz="1600" dirty="0"/>
          </a:p>
        </p:txBody>
      </p:sp>
      <p:sp>
        <p:nvSpPr>
          <p:cNvPr id="11" name="menu What CurioX is title">
            <a:hlinkClick r:id="rId2" tooltip="Go to What CurioX is" action="ppaction://hlinksldjump"/>
          </p:cNvPr>
          <p:cNvSpPr txBox="1"/>
          <p:nvPr/>
        </p:nvSpPr>
        <p:spPr>
          <a:xfrm>
            <a:off x="7223760" y="1481328"/>
            <a:ext cx="4343400" cy="329184"/>
          </a:xfrm>
          <a:prstGeom prst="rect">
            <a:avLst/>
          </a:prstGeom>
          <a:noFill/>
          <a:ln/>
        </p:spPr>
        <p:txBody>
          <a:bodyPr wrap="square" lIns="0" tIns="0" rIns="0" bIns="0" rtlCol="0" anchor="ctr"/>
          <a:lstStyle/>
          <a:p>
            <a:pPr indent="0" marL="0">
              <a:buNone/>
            </a:pPr>
            <a:r>
              <a:rPr lang="en-US" sz="1600" b="1" u="sng" dirty="0">
                <a:solidFill>
                  <a:schemeClr val="tx1"/>
                </a:solidFill>
                <a:hlinkClick r:id="rId2" action="ppaction://hlinksldjump" tooltip="Go to What CurioX is">
                  <a:extLst>
                    <a:ext uri="{A12FA001-AC4F-418D-AE19-62706E023703}">
                      <ahyp:hlinkClr xmlns:ahyp="http://schemas.microsoft.com/office/drawing/2018/hyperlinkcolor" val="tx"/>
                    </a:ext>
                  </a:extLst>
                </a:hlinkClick>
              </a:rPr>
              <a:t>What CurioX is</a:t>
            </a:r>
            <a:endParaRPr lang="en-US" sz="1600" dirty="0"/>
          </a:p>
        </p:txBody>
      </p:sp>
      <p:sp>
        <p:nvSpPr>
          <p:cNvPr id="12" name="menu What CurioX is sub"/>
          <p:cNvSpPr txBox="1"/>
          <p:nvPr/>
        </p:nvSpPr>
        <p:spPr>
          <a:xfrm>
            <a:off x="7223760" y="1810512"/>
            <a:ext cx="4343400" cy="329184"/>
          </a:xfrm>
          <a:prstGeom prst="rect">
            <a:avLst/>
          </a:prstGeom>
          <a:noFill/>
          <a:ln/>
        </p:spPr>
        <p:txBody>
          <a:bodyPr wrap="square" lIns="0" tIns="0" rIns="0" bIns="0" rtlCol="0" anchor="ctr"/>
          <a:lstStyle/>
          <a:p>
            <a:pPr indent="0" marL="0">
              <a:buNone/>
            </a:pPr>
            <a:r>
              <a:rPr lang="en-US" sz="1200" dirty="0">
                <a:solidFill>
                  <a:schemeClr val="tx2"/>
                </a:solidFill>
              </a:rPr>
              <a:t>Four parts, one companion</a:t>
            </a:r>
            <a:endParaRPr lang="en-US" sz="1200" dirty="0"/>
          </a:p>
        </p:txBody>
      </p:sp>
      <p:sp>
        <p:nvSpPr>
          <p:cNvPr id="13" name="menu A reader's first minute"/>
          <p:cNvSpPr/>
          <p:nvPr/>
        </p:nvSpPr>
        <p:spPr>
          <a:xfrm>
            <a:off x="548640" y="2414016"/>
            <a:ext cx="5349240" cy="841248"/>
          </a:xfrm>
          <a:prstGeom prst="roundRect">
            <a:avLst>
              <a:gd name="adj" fmla="val 19565"/>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14" name="stamp 5"/>
          <p:cNvSpPr/>
          <p:nvPr/>
        </p:nvSpPr>
        <p:spPr>
          <a:xfrm>
            <a:off x="713232" y="2569464"/>
            <a:ext cx="530352" cy="530352"/>
          </a:xfrm>
          <a:prstGeom prst="ellipse">
            <a:avLst/>
          </a:prstGeom>
          <a:solidFill>
            <a:schemeClr val="tx1"/>
          </a:solidFill>
          <a:ln w="12700">
            <a:solidFill>
              <a:schemeClr val="tx1"/>
            </a:solidFill>
            <a:prstDash val="solid"/>
          </a:ln>
        </p:spPr>
      </p:sp>
      <p:sp>
        <p:nvSpPr>
          <p:cNvPr id="15" name="stamp 5 label"/>
          <p:cNvSpPr txBox="1"/>
          <p:nvPr/>
        </p:nvSpPr>
        <p:spPr>
          <a:xfrm>
            <a:off x="713232" y="2569464"/>
            <a:ext cx="530352" cy="530352"/>
          </a:xfrm>
          <a:prstGeom prst="rect">
            <a:avLst/>
          </a:prstGeom>
          <a:noFill/>
          <a:ln/>
        </p:spPr>
        <p:txBody>
          <a:bodyPr wrap="square" lIns="0" tIns="0" rIns="0" bIns="0" rtlCol="0" anchor="ctr"/>
          <a:lstStyle/>
          <a:p>
            <a:pPr algn="ctr" indent="0" marL="0">
              <a:buNone/>
            </a:pPr>
            <a:r>
              <a:rPr lang="en-US" sz="1600" b="1" dirty="0">
                <a:solidFill>
                  <a:schemeClr val="bg2"/>
                </a:solidFill>
              </a:rPr>
              <a:t>5</a:t>
            </a:r>
            <a:endParaRPr lang="en-US" sz="1600" dirty="0"/>
          </a:p>
        </p:txBody>
      </p:sp>
      <p:sp>
        <p:nvSpPr>
          <p:cNvPr id="16" name="menu A reader&amp;apos;s first minute title">
            <a:hlinkClick r:id="rId3" tooltip="Go to A reader's first minute" action="ppaction://hlinksldjump"/>
          </p:cNvPr>
          <p:cNvSpPr txBox="1"/>
          <p:nvPr/>
        </p:nvSpPr>
        <p:spPr>
          <a:xfrm>
            <a:off x="1417320" y="2523744"/>
            <a:ext cx="4343400" cy="329184"/>
          </a:xfrm>
          <a:prstGeom prst="rect">
            <a:avLst/>
          </a:prstGeom>
          <a:noFill/>
          <a:ln/>
        </p:spPr>
        <p:txBody>
          <a:bodyPr wrap="square" lIns="0" tIns="0" rIns="0" bIns="0" rtlCol="0" anchor="ctr"/>
          <a:lstStyle/>
          <a:p>
            <a:pPr indent="0" marL="0">
              <a:buNone/>
            </a:pPr>
            <a:r>
              <a:rPr lang="en-US" sz="1600" b="1" u="sng" dirty="0">
                <a:solidFill>
                  <a:schemeClr val="tx1"/>
                </a:solidFill>
                <a:hlinkClick r:id="rId3" action="ppaction://hlinksldjump" tooltip="Go to A reader's first minute">
                  <a:extLst>
                    <a:ext uri="{A12FA001-AC4F-418D-AE19-62706E023703}">
                      <ahyp:hlinkClr xmlns:ahyp="http://schemas.microsoft.com/office/drawing/2018/hyperlinkcolor" val="tx"/>
                    </a:ext>
                  </a:extLst>
                </a:hlinkClick>
              </a:rPr>
              <a:t>A reader's first minute</a:t>
            </a:r>
            <a:endParaRPr lang="en-US" sz="1600" dirty="0"/>
          </a:p>
        </p:txBody>
      </p:sp>
      <p:sp>
        <p:nvSpPr>
          <p:cNvPr id="17" name="menu A reader&amp;apos;s first minute sub"/>
          <p:cNvSpPr txBox="1"/>
          <p:nvPr/>
        </p:nvSpPr>
        <p:spPr>
          <a:xfrm>
            <a:off x="1417320" y="2852928"/>
            <a:ext cx="4343400" cy="329184"/>
          </a:xfrm>
          <a:prstGeom prst="rect">
            <a:avLst/>
          </a:prstGeom>
          <a:noFill/>
          <a:ln/>
        </p:spPr>
        <p:txBody>
          <a:bodyPr wrap="square" lIns="0" tIns="0" rIns="0" bIns="0" rtlCol="0" anchor="ctr"/>
          <a:lstStyle/>
          <a:p>
            <a:pPr indent="0" marL="0">
              <a:buNone/>
            </a:pPr>
            <a:r>
              <a:rPr lang="en-US" sz="1200" dirty="0">
                <a:solidFill>
                  <a:schemeClr val="tx2"/>
                </a:solidFill>
              </a:rPr>
              <a:t>From notification to first issue, no sign-up</a:t>
            </a:r>
            <a:endParaRPr lang="en-US" sz="1200" dirty="0"/>
          </a:p>
        </p:txBody>
      </p:sp>
      <p:sp>
        <p:nvSpPr>
          <p:cNvPr id="18" name="menu The daily issue"/>
          <p:cNvSpPr/>
          <p:nvPr/>
        </p:nvSpPr>
        <p:spPr>
          <a:xfrm>
            <a:off x="6355080" y="2414016"/>
            <a:ext cx="5349240" cy="841248"/>
          </a:xfrm>
          <a:prstGeom prst="roundRect">
            <a:avLst>
              <a:gd name="adj" fmla="val 19565"/>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19" name="stamp 6"/>
          <p:cNvSpPr/>
          <p:nvPr/>
        </p:nvSpPr>
        <p:spPr>
          <a:xfrm>
            <a:off x="6519672" y="2569464"/>
            <a:ext cx="530352" cy="530352"/>
          </a:xfrm>
          <a:prstGeom prst="ellipse">
            <a:avLst/>
          </a:prstGeom>
          <a:solidFill>
            <a:schemeClr val="tx1"/>
          </a:solidFill>
          <a:ln w="12700">
            <a:solidFill>
              <a:schemeClr val="tx1"/>
            </a:solidFill>
            <a:prstDash val="solid"/>
          </a:ln>
        </p:spPr>
      </p:sp>
      <p:sp>
        <p:nvSpPr>
          <p:cNvPr id="20" name="stamp 6 label"/>
          <p:cNvSpPr txBox="1"/>
          <p:nvPr/>
        </p:nvSpPr>
        <p:spPr>
          <a:xfrm>
            <a:off x="6519672" y="2569464"/>
            <a:ext cx="530352" cy="530352"/>
          </a:xfrm>
          <a:prstGeom prst="rect">
            <a:avLst/>
          </a:prstGeom>
          <a:noFill/>
          <a:ln/>
        </p:spPr>
        <p:txBody>
          <a:bodyPr wrap="square" lIns="0" tIns="0" rIns="0" bIns="0" rtlCol="0" anchor="ctr"/>
          <a:lstStyle/>
          <a:p>
            <a:pPr algn="ctr" indent="0" marL="0">
              <a:buNone/>
            </a:pPr>
            <a:r>
              <a:rPr lang="en-US" sz="1600" b="1" dirty="0">
                <a:solidFill>
                  <a:schemeClr val="bg2"/>
                </a:solidFill>
              </a:rPr>
              <a:t>6</a:t>
            </a:r>
            <a:endParaRPr lang="en-US" sz="1600" dirty="0"/>
          </a:p>
        </p:txBody>
      </p:sp>
      <p:sp>
        <p:nvSpPr>
          <p:cNvPr id="21" name="menu The daily issue title">
            <a:hlinkClick r:id="rId4" tooltip="Go to The daily issue" action="ppaction://hlinksldjump"/>
          </p:cNvPr>
          <p:cNvSpPr txBox="1"/>
          <p:nvPr/>
        </p:nvSpPr>
        <p:spPr>
          <a:xfrm>
            <a:off x="7223760" y="2523744"/>
            <a:ext cx="4343400" cy="329184"/>
          </a:xfrm>
          <a:prstGeom prst="rect">
            <a:avLst/>
          </a:prstGeom>
          <a:noFill/>
          <a:ln/>
        </p:spPr>
        <p:txBody>
          <a:bodyPr wrap="square" lIns="0" tIns="0" rIns="0" bIns="0" rtlCol="0" anchor="ctr"/>
          <a:lstStyle/>
          <a:p>
            <a:pPr indent="0" marL="0">
              <a:buNone/>
            </a:pPr>
            <a:r>
              <a:rPr lang="en-US" sz="1600" b="1" u="sng" dirty="0">
                <a:solidFill>
                  <a:schemeClr val="tx1"/>
                </a:solidFill>
                <a:hlinkClick r:id="rId4" action="ppaction://hlinksldjump" tooltip="Go to The daily issue">
                  <a:extLst>
                    <a:ext uri="{A12FA001-AC4F-418D-AE19-62706E023703}">
                      <ahyp:hlinkClr xmlns:ahyp="http://schemas.microsoft.com/office/drawing/2018/hyperlinkcolor" val="tx"/>
                    </a:ext>
                  </a:extLst>
                </a:hlinkClick>
              </a:rPr>
              <a:t>The daily issue</a:t>
            </a:r>
            <a:endParaRPr lang="en-US" sz="1600" dirty="0"/>
          </a:p>
        </p:txBody>
      </p:sp>
      <p:sp>
        <p:nvSpPr>
          <p:cNvPr id="22" name="menu The daily issue sub"/>
          <p:cNvSpPr txBox="1"/>
          <p:nvPr/>
        </p:nvSpPr>
        <p:spPr>
          <a:xfrm>
            <a:off x="7223760" y="2852928"/>
            <a:ext cx="4343400" cy="329184"/>
          </a:xfrm>
          <a:prstGeom prst="rect">
            <a:avLst/>
          </a:prstGeom>
          <a:noFill/>
          <a:ln/>
        </p:spPr>
        <p:txBody>
          <a:bodyPr wrap="square" lIns="0" tIns="0" rIns="0" bIns="0" rtlCol="0" anchor="ctr"/>
          <a:lstStyle/>
          <a:p>
            <a:pPr indent="0" marL="0">
              <a:buNone/>
            </a:pPr>
            <a:r>
              <a:rPr lang="en-US" sz="1200" dirty="0">
                <a:solidFill>
                  <a:schemeClr val="tx2"/>
                </a:solidFill>
              </a:rPr>
              <a:t>Nine cards per story, made for you</a:t>
            </a:r>
            <a:endParaRPr lang="en-US" sz="1200" dirty="0"/>
          </a:p>
        </p:txBody>
      </p:sp>
      <p:sp>
        <p:nvSpPr>
          <p:cNvPr id="23" name="menu Make it stick"/>
          <p:cNvSpPr/>
          <p:nvPr/>
        </p:nvSpPr>
        <p:spPr>
          <a:xfrm>
            <a:off x="548640" y="3456432"/>
            <a:ext cx="5349240" cy="841248"/>
          </a:xfrm>
          <a:prstGeom prst="roundRect">
            <a:avLst>
              <a:gd name="adj" fmla="val 19565"/>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24" name="stamp 7"/>
          <p:cNvSpPr/>
          <p:nvPr/>
        </p:nvSpPr>
        <p:spPr>
          <a:xfrm>
            <a:off x="713232" y="3611880"/>
            <a:ext cx="530352" cy="530352"/>
          </a:xfrm>
          <a:prstGeom prst="ellipse">
            <a:avLst/>
          </a:prstGeom>
          <a:solidFill>
            <a:schemeClr val="tx1"/>
          </a:solidFill>
          <a:ln w="12700">
            <a:solidFill>
              <a:schemeClr val="tx1"/>
            </a:solidFill>
            <a:prstDash val="solid"/>
          </a:ln>
        </p:spPr>
      </p:sp>
      <p:sp>
        <p:nvSpPr>
          <p:cNvPr id="25" name="stamp 7 label"/>
          <p:cNvSpPr txBox="1"/>
          <p:nvPr/>
        </p:nvSpPr>
        <p:spPr>
          <a:xfrm>
            <a:off x="713232" y="3611880"/>
            <a:ext cx="530352" cy="530352"/>
          </a:xfrm>
          <a:prstGeom prst="rect">
            <a:avLst/>
          </a:prstGeom>
          <a:noFill/>
          <a:ln/>
        </p:spPr>
        <p:txBody>
          <a:bodyPr wrap="square" lIns="0" tIns="0" rIns="0" bIns="0" rtlCol="0" anchor="ctr"/>
          <a:lstStyle/>
          <a:p>
            <a:pPr algn="ctr" indent="0" marL="0">
              <a:buNone/>
            </a:pPr>
            <a:r>
              <a:rPr lang="en-US" sz="1600" b="1" dirty="0">
                <a:solidFill>
                  <a:schemeClr val="bg2"/>
                </a:solidFill>
              </a:rPr>
              <a:t>7</a:t>
            </a:r>
            <a:endParaRPr lang="en-US" sz="1600" dirty="0"/>
          </a:p>
        </p:txBody>
      </p:sp>
      <p:sp>
        <p:nvSpPr>
          <p:cNvPr id="26" name="menu Make it stick title">
            <a:hlinkClick r:id="rId5" tooltip="Go to Make it stick" action="ppaction://hlinksldjump"/>
          </p:cNvPr>
          <p:cNvSpPr txBox="1"/>
          <p:nvPr/>
        </p:nvSpPr>
        <p:spPr>
          <a:xfrm>
            <a:off x="1417320" y="3566160"/>
            <a:ext cx="4343400" cy="329184"/>
          </a:xfrm>
          <a:prstGeom prst="rect">
            <a:avLst/>
          </a:prstGeom>
          <a:noFill/>
          <a:ln/>
        </p:spPr>
        <p:txBody>
          <a:bodyPr wrap="square" lIns="0" tIns="0" rIns="0" bIns="0" rtlCol="0" anchor="ctr"/>
          <a:lstStyle/>
          <a:p>
            <a:pPr indent="0" marL="0">
              <a:buNone/>
            </a:pPr>
            <a:r>
              <a:rPr lang="en-US" sz="1600" b="1" u="sng" dirty="0">
                <a:solidFill>
                  <a:schemeClr val="tx1"/>
                </a:solidFill>
                <a:hlinkClick r:id="rId5" action="ppaction://hlinksldjump" tooltip="Go to Make it stick">
                  <a:extLst>
                    <a:ext uri="{A12FA001-AC4F-418D-AE19-62706E023703}">
                      <ahyp:hlinkClr xmlns:ahyp="http://schemas.microsoft.com/office/drawing/2018/hyperlinkcolor" val="tx"/>
                    </a:ext>
                  </a:extLst>
                </a:hlinkClick>
              </a:rPr>
              <a:t>Make it stick</a:t>
            </a:r>
            <a:endParaRPr lang="en-US" sz="1600" dirty="0"/>
          </a:p>
        </p:txBody>
      </p:sp>
      <p:sp>
        <p:nvSpPr>
          <p:cNvPr id="27" name="menu Make it stick sub"/>
          <p:cNvSpPr txBox="1"/>
          <p:nvPr/>
        </p:nvSpPr>
        <p:spPr>
          <a:xfrm>
            <a:off x="1417320" y="3895344"/>
            <a:ext cx="4343400" cy="329184"/>
          </a:xfrm>
          <a:prstGeom prst="rect">
            <a:avLst/>
          </a:prstGeom>
          <a:noFill/>
          <a:ln/>
        </p:spPr>
        <p:txBody>
          <a:bodyPr wrap="square" lIns="0" tIns="0" rIns="0" bIns="0" rtlCol="0" anchor="ctr"/>
          <a:lstStyle/>
          <a:p>
            <a:pPr indent="0" marL="0">
              <a:buNone/>
            </a:pPr>
            <a:r>
              <a:rPr lang="en-US" sz="1200" dirty="0">
                <a:solidFill>
                  <a:schemeClr val="tx2"/>
                </a:solidFill>
              </a:rPr>
              <a:t>Quiz, teach it back, read the sources</a:t>
            </a:r>
            <a:endParaRPr lang="en-US" sz="1200" dirty="0"/>
          </a:p>
        </p:txBody>
      </p:sp>
      <p:sp>
        <p:nvSpPr>
          <p:cNvPr id="28" name="menu Talk and Ask"/>
          <p:cNvSpPr/>
          <p:nvPr/>
        </p:nvSpPr>
        <p:spPr>
          <a:xfrm>
            <a:off x="6355080" y="3456432"/>
            <a:ext cx="5349240" cy="841248"/>
          </a:xfrm>
          <a:prstGeom prst="roundRect">
            <a:avLst>
              <a:gd name="adj" fmla="val 19565"/>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29" name="stamp 8"/>
          <p:cNvSpPr/>
          <p:nvPr/>
        </p:nvSpPr>
        <p:spPr>
          <a:xfrm>
            <a:off x="6519672" y="3611880"/>
            <a:ext cx="530352" cy="530352"/>
          </a:xfrm>
          <a:prstGeom prst="ellipse">
            <a:avLst/>
          </a:prstGeom>
          <a:solidFill>
            <a:schemeClr val="tx1"/>
          </a:solidFill>
          <a:ln w="12700">
            <a:solidFill>
              <a:schemeClr val="tx1"/>
            </a:solidFill>
            <a:prstDash val="solid"/>
          </a:ln>
        </p:spPr>
      </p:sp>
      <p:sp>
        <p:nvSpPr>
          <p:cNvPr id="30" name="stamp 8 label"/>
          <p:cNvSpPr txBox="1"/>
          <p:nvPr/>
        </p:nvSpPr>
        <p:spPr>
          <a:xfrm>
            <a:off x="6519672" y="3611880"/>
            <a:ext cx="530352" cy="530352"/>
          </a:xfrm>
          <a:prstGeom prst="rect">
            <a:avLst/>
          </a:prstGeom>
          <a:noFill/>
          <a:ln/>
        </p:spPr>
        <p:txBody>
          <a:bodyPr wrap="square" lIns="0" tIns="0" rIns="0" bIns="0" rtlCol="0" anchor="ctr"/>
          <a:lstStyle/>
          <a:p>
            <a:pPr algn="ctr" indent="0" marL="0">
              <a:buNone/>
            </a:pPr>
            <a:r>
              <a:rPr lang="en-US" sz="1600" b="1" dirty="0">
                <a:solidFill>
                  <a:schemeClr val="bg2"/>
                </a:solidFill>
              </a:rPr>
              <a:t>8</a:t>
            </a:r>
            <a:endParaRPr lang="en-US" sz="1600" dirty="0"/>
          </a:p>
        </p:txBody>
      </p:sp>
      <p:sp>
        <p:nvSpPr>
          <p:cNvPr id="31" name="menu Talk and Ask title">
            <a:hlinkClick r:id="rId6" tooltip="Go to Talk and Ask" action="ppaction://hlinksldjump"/>
          </p:cNvPr>
          <p:cNvSpPr txBox="1"/>
          <p:nvPr/>
        </p:nvSpPr>
        <p:spPr>
          <a:xfrm>
            <a:off x="7223760" y="3566160"/>
            <a:ext cx="4343400" cy="329184"/>
          </a:xfrm>
          <a:prstGeom prst="rect">
            <a:avLst/>
          </a:prstGeom>
          <a:noFill/>
          <a:ln/>
        </p:spPr>
        <p:txBody>
          <a:bodyPr wrap="square" lIns="0" tIns="0" rIns="0" bIns="0" rtlCol="0" anchor="ctr"/>
          <a:lstStyle/>
          <a:p>
            <a:pPr indent="0" marL="0">
              <a:buNone/>
            </a:pPr>
            <a:r>
              <a:rPr lang="en-US" sz="1600" b="1" u="sng" dirty="0">
                <a:solidFill>
                  <a:schemeClr val="tx1"/>
                </a:solidFill>
                <a:hlinkClick r:id="rId6" action="ppaction://hlinksldjump" tooltip="Go to Talk and Ask">
                  <a:extLst>
                    <a:ext uri="{A12FA001-AC4F-418D-AE19-62706E023703}">
                      <ahyp:hlinkClr xmlns:ahyp="http://schemas.microsoft.com/office/drawing/2018/hyperlinkcolor" val="tx"/>
                    </a:ext>
                  </a:extLst>
                </a:hlinkClick>
              </a:rPr>
              <a:t>Talk and Ask</a:t>
            </a:r>
            <a:endParaRPr lang="en-US" sz="1600" dirty="0"/>
          </a:p>
        </p:txBody>
      </p:sp>
      <p:sp>
        <p:nvSpPr>
          <p:cNvPr id="32" name="menu Talk and Ask sub"/>
          <p:cNvSpPr txBox="1"/>
          <p:nvPr/>
        </p:nvSpPr>
        <p:spPr>
          <a:xfrm>
            <a:off x="7223760" y="3895344"/>
            <a:ext cx="4343400" cy="329184"/>
          </a:xfrm>
          <a:prstGeom prst="rect">
            <a:avLst/>
          </a:prstGeom>
          <a:noFill/>
          <a:ln/>
        </p:spPr>
        <p:txBody>
          <a:bodyPr wrap="square" lIns="0" tIns="0" rIns="0" bIns="0" rtlCol="0" anchor="ctr"/>
          <a:lstStyle/>
          <a:p>
            <a:pPr indent="0" marL="0">
              <a:buNone/>
            </a:pPr>
            <a:r>
              <a:rPr lang="en-US" sz="1200" dirty="0">
                <a:solidFill>
                  <a:schemeClr val="tx2"/>
                </a:solidFill>
              </a:rPr>
              <a:t>Hands-free voice mode and cited answers</a:t>
            </a:r>
            <a:endParaRPr lang="en-US" sz="1200" dirty="0"/>
          </a:p>
        </p:txBody>
      </p:sp>
      <p:sp>
        <p:nvSpPr>
          <p:cNvPr id="33" name="menu It learns you"/>
          <p:cNvSpPr/>
          <p:nvPr/>
        </p:nvSpPr>
        <p:spPr>
          <a:xfrm>
            <a:off x="548640" y="4498848"/>
            <a:ext cx="5349240" cy="841248"/>
          </a:xfrm>
          <a:prstGeom prst="roundRect">
            <a:avLst>
              <a:gd name="adj" fmla="val 19565"/>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34" name="stamp 10"/>
          <p:cNvSpPr/>
          <p:nvPr/>
        </p:nvSpPr>
        <p:spPr>
          <a:xfrm>
            <a:off x="713232" y="4654296"/>
            <a:ext cx="530352" cy="530352"/>
          </a:xfrm>
          <a:prstGeom prst="ellipse">
            <a:avLst/>
          </a:prstGeom>
          <a:solidFill>
            <a:schemeClr val="tx1"/>
          </a:solidFill>
          <a:ln w="12700">
            <a:solidFill>
              <a:schemeClr val="tx1"/>
            </a:solidFill>
            <a:prstDash val="solid"/>
          </a:ln>
        </p:spPr>
      </p:sp>
      <p:sp>
        <p:nvSpPr>
          <p:cNvPr id="35" name="stamp 10 label"/>
          <p:cNvSpPr txBox="1"/>
          <p:nvPr/>
        </p:nvSpPr>
        <p:spPr>
          <a:xfrm>
            <a:off x="713232" y="4654296"/>
            <a:ext cx="530352" cy="530352"/>
          </a:xfrm>
          <a:prstGeom prst="rect">
            <a:avLst/>
          </a:prstGeom>
          <a:noFill/>
          <a:ln/>
        </p:spPr>
        <p:txBody>
          <a:bodyPr wrap="square" lIns="0" tIns="0" rIns="0" bIns="0" rtlCol="0" anchor="ctr"/>
          <a:lstStyle/>
          <a:p>
            <a:pPr algn="ctr" indent="0" marL="0">
              <a:buNone/>
            </a:pPr>
            <a:r>
              <a:rPr lang="en-US" sz="1600" b="1" dirty="0">
                <a:solidFill>
                  <a:schemeClr val="bg2"/>
                </a:solidFill>
              </a:rPr>
              <a:t>10</a:t>
            </a:r>
            <a:endParaRPr lang="en-US" sz="1600" dirty="0"/>
          </a:p>
        </p:txBody>
      </p:sp>
      <p:sp>
        <p:nvSpPr>
          <p:cNvPr id="36" name="menu It learns you title">
            <a:hlinkClick r:id="rId7" tooltip="Go to It learns you" action="ppaction://hlinksldjump"/>
          </p:cNvPr>
          <p:cNvSpPr txBox="1"/>
          <p:nvPr/>
        </p:nvSpPr>
        <p:spPr>
          <a:xfrm>
            <a:off x="1417320" y="4608576"/>
            <a:ext cx="4343400" cy="329184"/>
          </a:xfrm>
          <a:prstGeom prst="rect">
            <a:avLst/>
          </a:prstGeom>
          <a:noFill/>
          <a:ln/>
        </p:spPr>
        <p:txBody>
          <a:bodyPr wrap="square" lIns="0" tIns="0" rIns="0" bIns="0" rtlCol="0" anchor="ctr"/>
          <a:lstStyle/>
          <a:p>
            <a:pPr indent="0" marL="0">
              <a:buNone/>
            </a:pPr>
            <a:r>
              <a:rPr lang="en-US" sz="1600" b="1" u="sng" dirty="0">
                <a:solidFill>
                  <a:schemeClr val="tx1"/>
                </a:solidFill>
                <a:hlinkClick r:id="rId7" action="ppaction://hlinksldjump" tooltip="Go to It learns you">
                  <a:extLst>
                    <a:ext uri="{A12FA001-AC4F-418D-AE19-62706E023703}">
                      <ahyp:hlinkClr xmlns:ahyp="http://schemas.microsoft.com/office/drawing/2018/hyperlinkcolor" val="tx"/>
                    </a:ext>
                  </a:extLst>
                </a:hlinkClick>
              </a:rPr>
              <a:t>It learns you</a:t>
            </a:r>
            <a:endParaRPr lang="en-US" sz="1600" dirty="0"/>
          </a:p>
        </p:txBody>
      </p:sp>
      <p:sp>
        <p:nvSpPr>
          <p:cNvPr id="37" name="menu It learns you sub"/>
          <p:cNvSpPr txBox="1"/>
          <p:nvPr/>
        </p:nvSpPr>
        <p:spPr>
          <a:xfrm>
            <a:off x="1417320" y="4937760"/>
            <a:ext cx="4343400" cy="329184"/>
          </a:xfrm>
          <a:prstGeom prst="rect">
            <a:avLst/>
          </a:prstGeom>
          <a:noFill/>
          <a:ln/>
        </p:spPr>
        <p:txBody>
          <a:bodyPr wrap="square" lIns="0" tIns="0" rIns="0" bIns="0" rtlCol="0" anchor="ctr"/>
          <a:lstStyle/>
          <a:p>
            <a:pPr indent="0" marL="0">
              <a:buNone/>
            </a:pPr>
            <a:r>
              <a:rPr lang="en-US" sz="1200" dirty="0">
                <a:solidFill>
                  <a:schemeClr val="tx2"/>
                </a:solidFill>
              </a:rPr>
              <a:t>Interest signals, pinboard, reader card</a:t>
            </a:r>
            <a:endParaRPr lang="en-US" sz="1200" dirty="0"/>
          </a:p>
        </p:txBody>
      </p:sp>
      <p:sp>
        <p:nvSpPr>
          <p:cNvPr id="38" name="menu Under the hood"/>
          <p:cNvSpPr/>
          <p:nvPr/>
        </p:nvSpPr>
        <p:spPr>
          <a:xfrm>
            <a:off x="6355080" y="4498848"/>
            <a:ext cx="5349240" cy="841248"/>
          </a:xfrm>
          <a:prstGeom prst="roundRect">
            <a:avLst>
              <a:gd name="adj" fmla="val 19565"/>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39" name="stamp 11"/>
          <p:cNvSpPr/>
          <p:nvPr/>
        </p:nvSpPr>
        <p:spPr>
          <a:xfrm>
            <a:off x="6519672" y="4654296"/>
            <a:ext cx="530352" cy="530352"/>
          </a:xfrm>
          <a:prstGeom prst="ellipse">
            <a:avLst/>
          </a:prstGeom>
          <a:solidFill>
            <a:schemeClr val="tx1"/>
          </a:solidFill>
          <a:ln w="12700">
            <a:solidFill>
              <a:schemeClr val="tx1"/>
            </a:solidFill>
            <a:prstDash val="solid"/>
          </a:ln>
        </p:spPr>
      </p:sp>
      <p:sp>
        <p:nvSpPr>
          <p:cNvPr id="40" name="stamp 11 label"/>
          <p:cNvSpPr txBox="1"/>
          <p:nvPr/>
        </p:nvSpPr>
        <p:spPr>
          <a:xfrm>
            <a:off x="6519672" y="4654296"/>
            <a:ext cx="530352" cy="530352"/>
          </a:xfrm>
          <a:prstGeom prst="rect">
            <a:avLst/>
          </a:prstGeom>
          <a:noFill/>
          <a:ln/>
        </p:spPr>
        <p:txBody>
          <a:bodyPr wrap="square" lIns="0" tIns="0" rIns="0" bIns="0" rtlCol="0" anchor="ctr"/>
          <a:lstStyle/>
          <a:p>
            <a:pPr algn="ctr" indent="0" marL="0">
              <a:buNone/>
            </a:pPr>
            <a:r>
              <a:rPr lang="en-US" sz="1600" b="1" dirty="0">
                <a:solidFill>
                  <a:schemeClr val="bg2"/>
                </a:solidFill>
              </a:rPr>
              <a:t>11</a:t>
            </a:r>
            <a:endParaRPr lang="en-US" sz="1600" dirty="0"/>
          </a:p>
        </p:txBody>
      </p:sp>
      <p:sp>
        <p:nvSpPr>
          <p:cNvPr id="41" name="menu Under the hood title">
            <a:hlinkClick r:id="rId8" tooltip="Go to Under the hood" action="ppaction://hlinksldjump"/>
          </p:cNvPr>
          <p:cNvSpPr txBox="1"/>
          <p:nvPr/>
        </p:nvSpPr>
        <p:spPr>
          <a:xfrm>
            <a:off x="7223760" y="4608576"/>
            <a:ext cx="4343400" cy="329184"/>
          </a:xfrm>
          <a:prstGeom prst="rect">
            <a:avLst/>
          </a:prstGeom>
          <a:noFill/>
          <a:ln/>
        </p:spPr>
        <p:txBody>
          <a:bodyPr wrap="square" lIns="0" tIns="0" rIns="0" bIns="0" rtlCol="0" anchor="ctr"/>
          <a:lstStyle/>
          <a:p>
            <a:pPr indent="0" marL="0">
              <a:buNone/>
            </a:pPr>
            <a:r>
              <a:rPr lang="en-US" sz="1600" b="1" u="sng" dirty="0">
                <a:solidFill>
                  <a:schemeClr val="tx1"/>
                </a:solidFill>
                <a:hlinkClick r:id="rId8" action="ppaction://hlinksldjump" tooltip="Go to Under the hood">
                  <a:extLst>
                    <a:ext uri="{A12FA001-AC4F-418D-AE19-62706E023703}">
                      <ahyp:hlinkClr xmlns:ahyp="http://schemas.microsoft.com/office/drawing/2018/hyperlinkcolor" val="tx"/>
                    </a:ext>
                  </a:extLst>
                </a:hlinkClick>
              </a:rPr>
              <a:t>Under the hood</a:t>
            </a:r>
            <a:endParaRPr lang="en-US" sz="1600" dirty="0"/>
          </a:p>
        </p:txBody>
      </p:sp>
      <p:sp>
        <p:nvSpPr>
          <p:cNvPr id="42" name="menu Under the hood sub"/>
          <p:cNvSpPr txBox="1"/>
          <p:nvPr/>
        </p:nvSpPr>
        <p:spPr>
          <a:xfrm>
            <a:off x="7223760" y="4937760"/>
            <a:ext cx="4343400" cy="329184"/>
          </a:xfrm>
          <a:prstGeom prst="rect">
            <a:avLst/>
          </a:prstGeom>
          <a:noFill/>
          <a:ln/>
        </p:spPr>
        <p:txBody>
          <a:bodyPr wrap="square" lIns="0" tIns="0" rIns="0" bIns="0" rtlCol="0" anchor="ctr"/>
          <a:lstStyle/>
          <a:p>
            <a:pPr indent="0" marL="0">
              <a:buNone/>
            </a:pPr>
            <a:r>
              <a:rPr lang="en-US" sz="1200" dirty="0">
                <a:solidFill>
                  <a:schemeClr val="tx2"/>
                </a:solidFill>
              </a:rPr>
              <a:t>Expo, Express, MongoDB, Groq and Gemini</a:t>
            </a:r>
            <a:endParaRPr lang="en-US" sz="1200" dirty="0"/>
          </a:p>
        </p:txBody>
      </p:sp>
      <p:sp>
        <p:nvSpPr>
          <p:cNvPr id="43" name="menu Why it is a business"/>
          <p:cNvSpPr/>
          <p:nvPr/>
        </p:nvSpPr>
        <p:spPr>
          <a:xfrm>
            <a:off x="548640" y="5541264"/>
            <a:ext cx="5349240" cy="841248"/>
          </a:xfrm>
          <a:prstGeom prst="roundRect">
            <a:avLst>
              <a:gd name="adj" fmla="val 19565"/>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44" name="stamp 12"/>
          <p:cNvSpPr/>
          <p:nvPr/>
        </p:nvSpPr>
        <p:spPr>
          <a:xfrm>
            <a:off x="713232" y="5696712"/>
            <a:ext cx="530352" cy="530352"/>
          </a:xfrm>
          <a:prstGeom prst="ellipse">
            <a:avLst/>
          </a:prstGeom>
          <a:solidFill>
            <a:schemeClr val="tx1"/>
          </a:solidFill>
          <a:ln w="12700">
            <a:solidFill>
              <a:schemeClr val="tx1"/>
            </a:solidFill>
            <a:prstDash val="solid"/>
          </a:ln>
        </p:spPr>
      </p:sp>
      <p:sp>
        <p:nvSpPr>
          <p:cNvPr id="45" name="stamp 12 label"/>
          <p:cNvSpPr txBox="1"/>
          <p:nvPr/>
        </p:nvSpPr>
        <p:spPr>
          <a:xfrm>
            <a:off x="713232" y="5696712"/>
            <a:ext cx="530352" cy="530352"/>
          </a:xfrm>
          <a:prstGeom prst="rect">
            <a:avLst/>
          </a:prstGeom>
          <a:noFill/>
          <a:ln/>
        </p:spPr>
        <p:txBody>
          <a:bodyPr wrap="square" lIns="0" tIns="0" rIns="0" bIns="0" rtlCol="0" anchor="ctr"/>
          <a:lstStyle/>
          <a:p>
            <a:pPr algn="ctr" indent="0" marL="0">
              <a:buNone/>
            </a:pPr>
            <a:r>
              <a:rPr lang="en-US" sz="1600" b="1" dirty="0">
                <a:solidFill>
                  <a:schemeClr val="bg2"/>
                </a:solidFill>
              </a:rPr>
              <a:t>12</a:t>
            </a:r>
            <a:endParaRPr lang="en-US" sz="1600" dirty="0"/>
          </a:p>
        </p:txBody>
      </p:sp>
      <p:sp>
        <p:nvSpPr>
          <p:cNvPr id="46" name="menu Why it is a business title">
            <a:hlinkClick r:id="rId9" tooltip="Go to Why it is a business" action="ppaction://hlinksldjump"/>
          </p:cNvPr>
          <p:cNvSpPr txBox="1"/>
          <p:nvPr/>
        </p:nvSpPr>
        <p:spPr>
          <a:xfrm>
            <a:off x="1417320" y="5650992"/>
            <a:ext cx="4343400" cy="329184"/>
          </a:xfrm>
          <a:prstGeom prst="rect">
            <a:avLst/>
          </a:prstGeom>
          <a:noFill/>
          <a:ln/>
        </p:spPr>
        <p:txBody>
          <a:bodyPr wrap="square" lIns="0" tIns="0" rIns="0" bIns="0" rtlCol="0" anchor="ctr"/>
          <a:lstStyle/>
          <a:p>
            <a:pPr indent="0" marL="0">
              <a:buNone/>
            </a:pPr>
            <a:r>
              <a:rPr lang="en-US" sz="1600" b="1" u="sng" dirty="0">
                <a:solidFill>
                  <a:schemeClr val="tx1"/>
                </a:solidFill>
                <a:hlinkClick r:id="rId9" action="ppaction://hlinksldjump" tooltip="Go to Why it is a business">
                  <a:extLst>
                    <a:ext uri="{A12FA001-AC4F-418D-AE19-62706E023703}">
                      <ahyp:hlinkClr xmlns:ahyp="http://schemas.microsoft.com/office/drawing/2018/hyperlinkcolor" val="tx"/>
                    </a:ext>
                  </a:extLst>
                </a:hlinkClick>
              </a:rPr>
              <a:t>Why it is a business</a:t>
            </a:r>
            <a:endParaRPr lang="en-US" sz="1600" dirty="0"/>
          </a:p>
        </p:txBody>
      </p:sp>
      <p:sp>
        <p:nvSpPr>
          <p:cNvPr id="47" name="menu Why it is a business sub"/>
          <p:cNvSpPr txBox="1"/>
          <p:nvPr/>
        </p:nvSpPr>
        <p:spPr>
          <a:xfrm>
            <a:off x="1417320" y="5980176"/>
            <a:ext cx="4343400" cy="329184"/>
          </a:xfrm>
          <a:prstGeom prst="rect">
            <a:avLst/>
          </a:prstGeom>
          <a:noFill/>
          <a:ln/>
        </p:spPr>
        <p:txBody>
          <a:bodyPr wrap="square" lIns="0" tIns="0" rIns="0" bIns="0" rtlCol="0" anchor="ctr"/>
          <a:lstStyle/>
          <a:p>
            <a:pPr indent="0" marL="0">
              <a:buNone/>
            </a:pPr>
            <a:r>
              <a:rPr lang="en-US" sz="1200" dirty="0">
                <a:solidFill>
                  <a:schemeClr val="tx2"/>
                </a:solidFill>
              </a:rPr>
              <a:t>Use case, go-to-market, plan</a:t>
            </a:r>
            <a:endParaRPr lang="en-US" sz="1200" dirty="0"/>
          </a:p>
        </p:txBody>
      </p:sp>
      <p:sp>
        <p:nvSpPr>
          <p:cNvPr id="48" name="menu Built and next"/>
          <p:cNvSpPr/>
          <p:nvPr/>
        </p:nvSpPr>
        <p:spPr>
          <a:xfrm>
            <a:off x="6355080" y="5541264"/>
            <a:ext cx="5349240" cy="841248"/>
          </a:xfrm>
          <a:prstGeom prst="roundRect">
            <a:avLst>
              <a:gd name="adj" fmla="val 19565"/>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49" name="stamp 13"/>
          <p:cNvSpPr/>
          <p:nvPr/>
        </p:nvSpPr>
        <p:spPr>
          <a:xfrm>
            <a:off x="6519672" y="5696712"/>
            <a:ext cx="530352" cy="530352"/>
          </a:xfrm>
          <a:prstGeom prst="ellipse">
            <a:avLst/>
          </a:prstGeom>
          <a:solidFill>
            <a:schemeClr val="tx1"/>
          </a:solidFill>
          <a:ln w="12700">
            <a:solidFill>
              <a:schemeClr val="tx1"/>
            </a:solidFill>
            <a:prstDash val="solid"/>
          </a:ln>
        </p:spPr>
      </p:sp>
      <p:sp>
        <p:nvSpPr>
          <p:cNvPr id="50" name="stamp 13 label"/>
          <p:cNvSpPr txBox="1"/>
          <p:nvPr/>
        </p:nvSpPr>
        <p:spPr>
          <a:xfrm>
            <a:off x="6519672" y="5696712"/>
            <a:ext cx="530352" cy="530352"/>
          </a:xfrm>
          <a:prstGeom prst="rect">
            <a:avLst/>
          </a:prstGeom>
          <a:noFill/>
          <a:ln/>
        </p:spPr>
        <p:txBody>
          <a:bodyPr wrap="square" lIns="0" tIns="0" rIns="0" bIns="0" rtlCol="0" anchor="ctr"/>
          <a:lstStyle/>
          <a:p>
            <a:pPr algn="ctr" indent="0" marL="0">
              <a:buNone/>
            </a:pPr>
            <a:r>
              <a:rPr lang="en-US" sz="1600" b="1" dirty="0">
                <a:solidFill>
                  <a:schemeClr val="bg2"/>
                </a:solidFill>
              </a:rPr>
              <a:t>13</a:t>
            </a:r>
            <a:endParaRPr lang="en-US" sz="1600" dirty="0"/>
          </a:p>
        </p:txBody>
      </p:sp>
      <p:sp>
        <p:nvSpPr>
          <p:cNvPr id="51" name="menu Built and next title">
            <a:hlinkClick r:id="rId10" tooltip="Go to Built and next" action="ppaction://hlinksldjump"/>
          </p:cNvPr>
          <p:cNvSpPr txBox="1"/>
          <p:nvPr/>
        </p:nvSpPr>
        <p:spPr>
          <a:xfrm>
            <a:off x="7223760" y="5650992"/>
            <a:ext cx="4343400" cy="329184"/>
          </a:xfrm>
          <a:prstGeom prst="rect">
            <a:avLst/>
          </a:prstGeom>
          <a:noFill/>
          <a:ln/>
        </p:spPr>
        <p:txBody>
          <a:bodyPr wrap="square" lIns="0" tIns="0" rIns="0" bIns="0" rtlCol="0" anchor="ctr"/>
          <a:lstStyle/>
          <a:p>
            <a:pPr indent="0" marL="0">
              <a:buNone/>
            </a:pPr>
            <a:r>
              <a:rPr lang="en-US" sz="1600" b="1" u="sng" dirty="0">
                <a:solidFill>
                  <a:schemeClr val="tx1"/>
                </a:solidFill>
                <a:hlinkClick r:id="rId10" action="ppaction://hlinksldjump" tooltip="Go to Built and next">
                  <a:extLst>
                    <a:ext uri="{A12FA001-AC4F-418D-AE19-62706E023703}">
                      <ahyp:hlinkClr xmlns:ahyp="http://schemas.microsoft.com/office/drawing/2018/hyperlinkcolor" val="tx"/>
                    </a:ext>
                  </a:extLst>
                </a:hlinkClick>
              </a:rPr>
              <a:t>Built and next</a:t>
            </a:r>
            <a:endParaRPr lang="en-US" sz="1600" dirty="0"/>
          </a:p>
        </p:txBody>
      </p:sp>
      <p:sp>
        <p:nvSpPr>
          <p:cNvPr id="52" name="menu Built and next sub"/>
          <p:cNvSpPr txBox="1"/>
          <p:nvPr/>
        </p:nvSpPr>
        <p:spPr>
          <a:xfrm>
            <a:off x="7223760" y="5980176"/>
            <a:ext cx="4343400" cy="329184"/>
          </a:xfrm>
          <a:prstGeom prst="rect">
            <a:avLst/>
          </a:prstGeom>
          <a:noFill/>
          <a:ln/>
        </p:spPr>
        <p:txBody>
          <a:bodyPr wrap="square" lIns="0" tIns="0" rIns="0" bIns="0" rtlCol="0" anchor="ctr"/>
          <a:lstStyle/>
          <a:p>
            <a:pPr indent="0" marL="0">
              <a:buNone/>
            </a:pPr>
            <a:r>
              <a:rPr lang="en-US" sz="1200" dirty="0">
                <a:solidFill>
                  <a:schemeClr val="tx2"/>
                </a:solidFill>
              </a:rPr>
              <a:t>What works today, where it goes</a:t>
            </a:r>
            <a:endParaRPr lang="en-US" sz="12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058400" cy="822960"/>
          </a:xfrm>
          <a:prstGeom prst="rect">
            <a:avLst/>
          </a:prstGeom>
          <a:noFill/>
          <a:ln/>
        </p:spPr>
        <p:txBody>
          <a:bodyPr wrap="square" lIns="0" tIns="0" rIns="0" bIns="0" rtlCol="0" anchor="ctr"/>
          <a:lstStyle/>
          <a:p>
            <a:pPr algn="l" indent="0" marL="0">
              <a:buNone/>
            </a:pPr>
            <a:r>
              <a:rPr lang="en-US" sz="3000" b="1" dirty="0">
                <a:solidFill>
                  <a:schemeClr val="tx1"/>
                </a:solidFill>
              </a:rPr>
              <a:t>Today: endless feeds, flat answers, nothing sticks</a:t>
            </a:r>
            <a:endParaRPr lang="en-US" sz="3000" dirty="0"/>
          </a:p>
        </p:txBody>
      </p:sp>
      <p:sp>
        <p:nvSpPr>
          <p:cNvPr id="3" name="problem Noise"/>
          <p:cNvSpPr/>
          <p:nvPr/>
        </p:nvSpPr>
        <p:spPr>
          <a:xfrm>
            <a:off x="548640" y="1554480"/>
            <a:ext cx="3474720" cy="3108960"/>
          </a:xfrm>
          <a:prstGeom prst="roundRect">
            <a:avLst>
              <a:gd name="adj" fmla="val 5294"/>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4" name="stamp 1"/>
          <p:cNvSpPr/>
          <p:nvPr/>
        </p:nvSpPr>
        <p:spPr>
          <a:xfrm>
            <a:off x="822960" y="1828800"/>
            <a:ext cx="548640" cy="548640"/>
          </a:xfrm>
          <a:prstGeom prst="ellipse">
            <a:avLst/>
          </a:prstGeom>
          <a:solidFill>
            <a:schemeClr val="tx1"/>
          </a:solidFill>
          <a:ln w="12700">
            <a:solidFill>
              <a:schemeClr val="tx1"/>
            </a:solidFill>
            <a:prstDash val="solid"/>
          </a:ln>
        </p:spPr>
      </p:sp>
      <p:sp>
        <p:nvSpPr>
          <p:cNvPr id="5" name="stamp 1 label"/>
          <p:cNvSpPr txBox="1"/>
          <p:nvPr/>
        </p:nvSpPr>
        <p:spPr>
          <a:xfrm>
            <a:off x="822960" y="1828800"/>
            <a:ext cx="548640" cy="548640"/>
          </a:xfrm>
          <a:prstGeom prst="rect">
            <a:avLst/>
          </a:prstGeom>
          <a:noFill/>
          <a:ln/>
        </p:spPr>
        <p:txBody>
          <a:bodyPr wrap="square" lIns="0" tIns="0" rIns="0" bIns="0" rtlCol="0" anchor="ctr"/>
          <a:lstStyle/>
          <a:p>
            <a:pPr algn="ctr" indent="0" marL="0">
              <a:buNone/>
            </a:pPr>
            <a:r>
              <a:rPr lang="en-US" sz="1600" b="1" dirty="0">
                <a:solidFill>
                  <a:schemeClr val="bg2"/>
                </a:solidFill>
              </a:rPr>
              <a:t>1</a:t>
            </a:r>
            <a:endParaRPr lang="en-US" sz="1600" dirty="0"/>
          </a:p>
        </p:txBody>
      </p:sp>
      <p:sp>
        <p:nvSpPr>
          <p:cNvPr id="6" name="problem Noise head"/>
          <p:cNvSpPr txBox="1"/>
          <p:nvPr/>
        </p:nvSpPr>
        <p:spPr>
          <a:xfrm>
            <a:off x="1508760" y="1828800"/>
            <a:ext cx="2286000" cy="548640"/>
          </a:xfrm>
          <a:prstGeom prst="rect">
            <a:avLst/>
          </a:prstGeom>
          <a:noFill/>
          <a:ln/>
        </p:spPr>
        <p:txBody>
          <a:bodyPr wrap="square" lIns="0" tIns="0" rIns="0" bIns="0" rtlCol="0" anchor="ctr"/>
          <a:lstStyle/>
          <a:p>
            <a:pPr indent="0" marL="0">
              <a:buNone/>
            </a:pPr>
            <a:r>
              <a:rPr lang="en-US" sz="2400" b="1" dirty="0">
                <a:solidFill>
                  <a:schemeClr val="tx1"/>
                </a:solidFill>
              </a:rPr>
              <a:t>Noise</a:t>
            </a:r>
            <a:endParaRPr lang="en-US" sz="2400" dirty="0"/>
          </a:p>
        </p:txBody>
      </p:sp>
      <p:sp>
        <p:nvSpPr>
          <p:cNvPr id="7" name="problem Noise body"/>
          <p:cNvSpPr txBox="1"/>
          <p:nvPr/>
        </p:nvSpPr>
        <p:spPr>
          <a:xfrm>
            <a:off x="822960" y="2606040"/>
            <a:ext cx="2926080" cy="1828800"/>
          </a:xfrm>
          <a:prstGeom prst="rect">
            <a:avLst/>
          </a:prstGeom>
          <a:noFill/>
          <a:ln/>
        </p:spPr>
        <p:txBody>
          <a:bodyPr wrap="square" lIns="0" tIns="0" rIns="0" bIns="0" rtlCol="0" anchor="t"/>
          <a:lstStyle/>
          <a:p>
            <a:pPr indent="0" marL="0">
              <a:buNone/>
            </a:pPr>
            <a:r>
              <a:rPr lang="en-US" sz="1500" dirty="0">
                <a:solidFill>
                  <a:schemeClr val="tx1"/>
                </a:solidFill>
              </a:rPr>
              <a:t>The news tells you what happened. It never tells you why it matters to you, so most of it is skipped.</a:t>
            </a:r>
            <a:endParaRPr lang="en-US" sz="1500" dirty="0"/>
          </a:p>
        </p:txBody>
      </p:sp>
      <p:sp>
        <p:nvSpPr>
          <p:cNvPr id="8" name="problem Flat"/>
          <p:cNvSpPr/>
          <p:nvPr/>
        </p:nvSpPr>
        <p:spPr>
          <a:xfrm>
            <a:off x="4297680" y="1554480"/>
            <a:ext cx="3474720" cy="3108960"/>
          </a:xfrm>
          <a:prstGeom prst="roundRect">
            <a:avLst>
              <a:gd name="adj" fmla="val 5294"/>
            </a:avLst>
          </a:prstGeom>
          <a:solidFill>
            <a:schemeClr val="accent1"/>
          </a:solidFill>
          <a:ln w="12700">
            <a:solidFill>
              <a:schemeClr val="accent1"/>
            </a:solidFill>
            <a:prstDash val="solid"/>
          </a:ln>
          <a:effectLst>
            <a:outerShdw sx="100000" sy="100000" kx="0" ky="0" algn="bl" rotWithShape="0" blurRad="76200" dist="25400" dir="5400000">
              <a:srgbClr val="141310">
                <a:alpha val="18000"/>
              </a:srgbClr>
            </a:outerShdw>
          </a:effectLst>
        </p:spPr>
      </p:sp>
      <p:sp>
        <p:nvSpPr>
          <p:cNvPr id="9" name="stamp 2"/>
          <p:cNvSpPr/>
          <p:nvPr/>
        </p:nvSpPr>
        <p:spPr>
          <a:xfrm>
            <a:off x="4572000" y="1828800"/>
            <a:ext cx="548640" cy="548640"/>
          </a:xfrm>
          <a:prstGeom prst="ellipse">
            <a:avLst/>
          </a:prstGeom>
          <a:solidFill>
            <a:schemeClr val="tx1"/>
          </a:solidFill>
          <a:ln w="12700">
            <a:solidFill>
              <a:schemeClr val="tx1"/>
            </a:solidFill>
            <a:prstDash val="solid"/>
          </a:ln>
        </p:spPr>
      </p:sp>
      <p:sp>
        <p:nvSpPr>
          <p:cNvPr id="10" name="stamp 2 label"/>
          <p:cNvSpPr txBox="1"/>
          <p:nvPr/>
        </p:nvSpPr>
        <p:spPr>
          <a:xfrm>
            <a:off x="4572000" y="1828800"/>
            <a:ext cx="548640" cy="548640"/>
          </a:xfrm>
          <a:prstGeom prst="rect">
            <a:avLst/>
          </a:prstGeom>
          <a:noFill/>
          <a:ln/>
        </p:spPr>
        <p:txBody>
          <a:bodyPr wrap="square" lIns="0" tIns="0" rIns="0" bIns="0" rtlCol="0" anchor="ctr"/>
          <a:lstStyle/>
          <a:p>
            <a:pPr algn="ctr" indent="0" marL="0">
              <a:buNone/>
            </a:pPr>
            <a:r>
              <a:rPr lang="en-US" sz="1600" b="1" dirty="0">
                <a:solidFill>
                  <a:schemeClr val="bg2"/>
                </a:solidFill>
              </a:rPr>
              <a:t>2</a:t>
            </a:r>
            <a:endParaRPr lang="en-US" sz="1600" dirty="0"/>
          </a:p>
        </p:txBody>
      </p:sp>
      <p:sp>
        <p:nvSpPr>
          <p:cNvPr id="11" name="problem Flat head"/>
          <p:cNvSpPr txBox="1"/>
          <p:nvPr/>
        </p:nvSpPr>
        <p:spPr>
          <a:xfrm>
            <a:off x="5257800" y="1828800"/>
            <a:ext cx="2286000" cy="548640"/>
          </a:xfrm>
          <a:prstGeom prst="rect">
            <a:avLst/>
          </a:prstGeom>
          <a:noFill/>
          <a:ln/>
        </p:spPr>
        <p:txBody>
          <a:bodyPr wrap="square" lIns="0" tIns="0" rIns="0" bIns="0" rtlCol="0" anchor="ctr"/>
          <a:lstStyle/>
          <a:p>
            <a:pPr indent="0" marL="0">
              <a:buNone/>
            </a:pPr>
            <a:r>
              <a:rPr lang="en-US" sz="2400" b="1" dirty="0">
                <a:solidFill>
                  <a:schemeClr val="tx1"/>
                </a:solidFill>
              </a:rPr>
              <a:t>Flat</a:t>
            </a:r>
            <a:endParaRPr lang="en-US" sz="2400" dirty="0"/>
          </a:p>
        </p:txBody>
      </p:sp>
      <p:sp>
        <p:nvSpPr>
          <p:cNvPr id="12" name="problem Flat body"/>
          <p:cNvSpPr txBox="1"/>
          <p:nvPr/>
        </p:nvSpPr>
        <p:spPr>
          <a:xfrm>
            <a:off x="4572000" y="2606040"/>
            <a:ext cx="2926080" cy="1828800"/>
          </a:xfrm>
          <a:prstGeom prst="rect">
            <a:avLst/>
          </a:prstGeom>
          <a:noFill/>
          <a:ln/>
        </p:spPr>
        <p:txBody>
          <a:bodyPr wrap="square" lIns="0" tIns="0" rIns="0" bIns="0" rtlCol="0" anchor="t"/>
          <a:lstStyle/>
          <a:p>
            <a:pPr indent="0" marL="0">
              <a:buNone/>
            </a:pPr>
            <a:r>
              <a:rPr lang="en-US" sz="1500" dirty="0">
                <a:solidFill>
                  <a:schemeClr val="tx1"/>
                </a:solidFill>
              </a:rPr>
              <a:t>Every explanation is written for an average reader who does not exist. Too simple for some, too hard for others.</a:t>
            </a:r>
            <a:endParaRPr lang="en-US" sz="1500" dirty="0"/>
          </a:p>
        </p:txBody>
      </p:sp>
      <p:sp>
        <p:nvSpPr>
          <p:cNvPr id="13" name="problem Leaky"/>
          <p:cNvSpPr/>
          <p:nvPr/>
        </p:nvSpPr>
        <p:spPr>
          <a:xfrm>
            <a:off x="8046720" y="1554480"/>
            <a:ext cx="3474720" cy="3108960"/>
          </a:xfrm>
          <a:prstGeom prst="roundRect">
            <a:avLst>
              <a:gd name="adj" fmla="val 5294"/>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14" name="stamp 3"/>
          <p:cNvSpPr/>
          <p:nvPr/>
        </p:nvSpPr>
        <p:spPr>
          <a:xfrm>
            <a:off x="8321040" y="1828800"/>
            <a:ext cx="548640" cy="548640"/>
          </a:xfrm>
          <a:prstGeom prst="ellipse">
            <a:avLst/>
          </a:prstGeom>
          <a:solidFill>
            <a:schemeClr val="tx1"/>
          </a:solidFill>
          <a:ln w="12700">
            <a:solidFill>
              <a:schemeClr val="tx1"/>
            </a:solidFill>
            <a:prstDash val="solid"/>
          </a:ln>
        </p:spPr>
      </p:sp>
      <p:sp>
        <p:nvSpPr>
          <p:cNvPr id="15" name="stamp 3 label"/>
          <p:cNvSpPr txBox="1"/>
          <p:nvPr/>
        </p:nvSpPr>
        <p:spPr>
          <a:xfrm>
            <a:off x="8321040" y="1828800"/>
            <a:ext cx="548640" cy="548640"/>
          </a:xfrm>
          <a:prstGeom prst="rect">
            <a:avLst/>
          </a:prstGeom>
          <a:noFill/>
          <a:ln/>
        </p:spPr>
        <p:txBody>
          <a:bodyPr wrap="square" lIns="0" tIns="0" rIns="0" bIns="0" rtlCol="0" anchor="ctr"/>
          <a:lstStyle/>
          <a:p>
            <a:pPr algn="ctr" indent="0" marL="0">
              <a:buNone/>
            </a:pPr>
            <a:r>
              <a:rPr lang="en-US" sz="1600" b="1" dirty="0">
                <a:solidFill>
                  <a:schemeClr val="bg2"/>
                </a:solidFill>
              </a:rPr>
              <a:t>3</a:t>
            </a:r>
            <a:endParaRPr lang="en-US" sz="1600" dirty="0"/>
          </a:p>
        </p:txBody>
      </p:sp>
      <p:sp>
        <p:nvSpPr>
          <p:cNvPr id="16" name="problem Leaky head"/>
          <p:cNvSpPr txBox="1"/>
          <p:nvPr/>
        </p:nvSpPr>
        <p:spPr>
          <a:xfrm>
            <a:off x="9006840" y="1828800"/>
            <a:ext cx="2286000" cy="548640"/>
          </a:xfrm>
          <a:prstGeom prst="rect">
            <a:avLst/>
          </a:prstGeom>
          <a:noFill/>
          <a:ln/>
        </p:spPr>
        <p:txBody>
          <a:bodyPr wrap="square" lIns="0" tIns="0" rIns="0" bIns="0" rtlCol="0" anchor="ctr"/>
          <a:lstStyle/>
          <a:p>
            <a:pPr indent="0" marL="0">
              <a:buNone/>
            </a:pPr>
            <a:r>
              <a:rPr lang="en-US" sz="2400" b="1" dirty="0">
                <a:solidFill>
                  <a:schemeClr val="tx1"/>
                </a:solidFill>
              </a:rPr>
              <a:t>Leaky</a:t>
            </a:r>
            <a:endParaRPr lang="en-US" sz="2400" dirty="0"/>
          </a:p>
        </p:txBody>
      </p:sp>
      <p:sp>
        <p:nvSpPr>
          <p:cNvPr id="17" name="problem Leaky body"/>
          <p:cNvSpPr txBox="1"/>
          <p:nvPr/>
        </p:nvSpPr>
        <p:spPr>
          <a:xfrm>
            <a:off x="8321040" y="2606040"/>
            <a:ext cx="2926080" cy="1828800"/>
          </a:xfrm>
          <a:prstGeom prst="rect">
            <a:avLst/>
          </a:prstGeom>
          <a:noFill/>
          <a:ln/>
        </p:spPr>
        <p:txBody>
          <a:bodyPr wrap="square" lIns="0" tIns="0" rIns="0" bIns="0" rtlCol="0" anchor="t"/>
          <a:lstStyle/>
          <a:p>
            <a:pPr indent="0" marL="0">
              <a:buNone/>
            </a:pPr>
            <a:r>
              <a:rPr lang="en-US" sz="1500" dirty="0">
                <a:solidFill>
                  <a:schemeClr val="tx1"/>
                </a:solidFill>
              </a:rPr>
              <a:t>Reading is passive. Nothing is checked, nothing is said back in your own words, so little of it stays.</a:t>
            </a:r>
            <a:endParaRPr lang="en-US" sz="1500" dirty="0"/>
          </a:p>
        </p:txBody>
      </p:sp>
      <p:sp>
        <p:nvSpPr>
          <p:cNvPr id="18" name="learner line"/>
          <p:cNvSpPr txBox="1"/>
          <p:nvPr/>
        </p:nvSpPr>
        <p:spPr>
          <a:xfrm>
            <a:off x="548640" y="5029200"/>
            <a:ext cx="11064240" cy="822960"/>
          </a:xfrm>
          <a:prstGeom prst="rect">
            <a:avLst/>
          </a:prstGeom>
          <a:noFill/>
          <a:ln/>
        </p:spPr>
        <p:txBody>
          <a:bodyPr wrap="square" lIns="0" tIns="0" rIns="0" bIns="0" rtlCol="0" anchor="ctr"/>
          <a:lstStyle/>
          <a:p>
            <a:pPr indent="0" marL="0">
              <a:buNone/>
            </a:pPr>
            <a:r>
              <a:rPr lang="en-US" sz="1600" i="1" dirty="0">
                <a:solidFill>
                  <a:schemeClr val="tx2"/>
                </a:solidFill>
              </a:rPr>
              <a:t>The learner we build for: someone who follows a few topics, has ten minutes a day, and wants to actually understand, not just scroll.</a:t>
            </a:r>
            <a:endParaRPr lang="en-US" sz="1600" dirty="0"/>
          </a:p>
        </p:txBody>
      </p:sp>
      <p:sp>
        <p:nvSpPr>
          <p:cNvPr id="19" name="chip Contents"/>
          <p:cNvSpPr/>
          <p:nvPr/>
        </p:nvSpPr>
        <p:spPr>
          <a:xfrm>
            <a:off x="10058400" y="6355080"/>
            <a:ext cx="1097280" cy="329184"/>
          </a:xfrm>
          <a:prstGeom prst="roundRect">
            <a:avLst>
              <a:gd name="adj" fmla="val 33333"/>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20" name="chip Contents label">
            <a:hlinkClick r:id="rId1" tooltip="Back to the contents" action="ppaction://hlinksldjump"/>
          </p:cNvPr>
          <p:cNvSpPr txBox="1"/>
          <p:nvPr/>
        </p:nvSpPr>
        <p:spPr>
          <a:xfrm>
            <a:off x="10058400" y="6355080"/>
            <a:ext cx="1097280" cy="329184"/>
          </a:xfrm>
          <a:prstGeom prst="rect">
            <a:avLst/>
          </a:prstGeom>
          <a:noFill/>
          <a:ln/>
        </p:spPr>
        <p:txBody>
          <a:bodyPr wrap="square" lIns="0" tIns="0" rIns="0" bIns="0" rtlCol="0" anchor="ctr"/>
          <a:lstStyle/>
          <a:p>
            <a:pPr algn="ctr" indent="0" marL="0">
              <a:buNone/>
            </a:pPr>
            <a:r>
              <a:rPr lang="en-US" sz="1000" b="1" u="sng" dirty="0">
                <a:solidFill>
                  <a:schemeClr val="tx1"/>
                </a:solidFill>
                <a:hlinkClick r:id="rId1" action="ppaction://hlinksldjump" tooltip="Back to the contents">
                  <a:extLst>
                    <a:ext uri="{A12FA001-AC4F-418D-AE19-62706E023703}">
                      <ahyp:hlinkClr xmlns:ahyp="http://schemas.microsoft.com/office/drawing/2018/hyperlinkcolor" val="tx"/>
                    </a:ext>
                  </a:extLst>
                </a:hlinkClick>
              </a:rPr>
              <a:t>Contents</a:t>
            </a:r>
            <a:endParaRPr lang="en-US" sz="10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058400" cy="822960"/>
          </a:xfrm>
          <a:prstGeom prst="rect">
            <a:avLst/>
          </a:prstGeom>
          <a:noFill/>
          <a:ln/>
        </p:spPr>
        <p:txBody>
          <a:bodyPr wrap="square" lIns="0" tIns="0" rIns="0" bIns="0" rtlCol="0" anchor="ctr"/>
          <a:lstStyle/>
          <a:p>
            <a:pPr algn="l" indent="0" marL="0">
              <a:buNone/>
            </a:pPr>
            <a:r>
              <a:rPr lang="en-US" sz="3000" b="1" dirty="0">
                <a:solidFill>
                  <a:schemeClr val="tx1"/>
                </a:solidFill>
              </a:rPr>
              <a:t>CurioX: a learning companion that knows you</a:t>
            </a:r>
            <a:endParaRPr lang="en-US" sz="3000" dirty="0"/>
          </a:p>
        </p:txBody>
      </p:sp>
      <p:sp>
        <p:nvSpPr>
          <p:cNvPr id="3" name="stamp 1"/>
          <p:cNvSpPr/>
          <p:nvPr/>
        </p:nvSpPr>
        <p:spPr>
          <a:xfrm>
            <a:off x="548640" y="1508760"/>
            <a:ext cx="566928" cy="566928"/>
          </a:xfrm>
          <a:prstGeom prst="ellipse">
            <a:avLst/>
          </a:prstGeom>
          <a:solidFill>
            <a:schemeClr val="tx1"/>
          </a:solidFill>
          <a:ln w="12700">
            <a:solidFill>
              <a:schemeClr val="tx1"/>
            </a:solidFill>
            <a:prstDash val="solid"/>
          </a:ln>
        </p:spPr>
      </p:sp>
      <p:sp>
        <p:nvSpPr>
          <p:cNvPr id="4" name="stamp 1 label"/>
          <p:cNvSpPr txBox="1"/>
          <p:nvPr/>
        </p:nvSpPr>
        <p:spPr>
          <a:xfrm>
            <a:off x="548640" y="1508760"/>
            <a:ext cx="566928" cy="566928"/>
          </a:xfrm>
          <a:prstGeom prst="rect">
            <a:avLst/>
          </a:prstGeom>
          <a:noFill/>
          <a:ln/>
        </p:spPr>
        <p:txBody>
          <a:bodyPr wrap="square" lIns="0" tIns="0" rIns="0" bIns="0" rtlCol="0" anchor="ctr"/>
          <a:lstStyle/>
          <a:p>
            <a:pPr algn="ctr" indent="0" marL="0">
              <a:buNone/>
            </a:pPr>
            <a:r>
              <a:rPr lang="en-US" sz="1600" b="1" dirty="0">
                <a:solidFill>
                  <a:schemeClr val="bg2"/>
                </a:solidFill>
              </a:rPr>
              <a:t>1</a:t>
            </a:r>
            <a:endParaRPr lang="en-US" sz="1600" dirty="0"/>
          </a:p>
        </p:txBody>
      </p:sp>
      <p:sp>
        <p:nvSpPr>
          <p:cNvPr id="5" name="part Reader card head">
            <a:hlinkClick r:id="rId1" tooltip="Go to Reader card" action="ppaction://hlinksldjump"/>
          </p:cNvPr>
          <p:cNvSpPr txBox="1"/>
          <p:nvPr/>
        </p:nvSpPr>
        <p:spPr>
          <a:xfrm>
            <a:off x="1325880" y="1417320"/>
            <a:ext cx="6035040" cy="365760"/>
          </a:xfrm>
          <a:prstGeom prst="rect">
            <a:avLst/>
          </a:prstGeom>
          <a:noFill/>
          <a:ln/>
        </p:spPr>
        <p:txBody>
          <a:bodyPr wrap="square" lIns="0" tIns="0" rIns="0" bIns="0" rtlCol="0" anchor="ctr"/>
          <a:lstStyle/>
          <a:p>
            <a:pPr indent="0" marL="0">
              <a:buNone/>
            </a:pPr>
            <a:r>
              <a:rPr lang="en-US" sz="1800" b="1" u="sng" dirty="0">
                <a:solidFill>
                  <a:schemeClr val="tx1"/>
                </a:solidFill>
                <a:hlinkClick r:id="rId1" action="ppaction://hlinksldjump" tooltip="Go to Reader card">
                  <a:extLst>
                    <a:ext uri="{A12FA001-AC4F-418D-AE19-62706E023703}">
                      <ahyp:hlinkClr xmlns:ahyp="http://schemas.microsoft.com/office/drawing/2018/hyperlinkcolor" val="tx"/>
                    </a:ext>
                  </a:extLst>
                </a:hlinkClick>
              </a:rPr>
              <a:t>Reader card</a:t>
            </a:r>
            <a:endParaRPr lang="en-US" sz="1800" dirty="0"/>
          </a:p>
        </p:txBody>
      </p:sp>
      <p:sp>
        <p:nvSpPr>
          <p:cNvPr id="6" name="part Reader card body"/>
          <p:cNvSpPr txBox="1"/>
          <p:nvPr/>
        </p:nvSpPr>
        <p:spPr>
          <a:xfrm>
            <a:off x="1325880" y="1801368"/>
            <a:ext cx="6035040" cy="731520"/>
          </a:xfrm>
          <a:prstGeom prst="rect">
            <a:avLst/>
          </a:prstGeom>
          <a:noFill/>
          <a:ln/>
        </p:spPr>
        <p:txBody>
          <a:bodyPr wrap="square" lIns="0" tIns="0" rIns="0" bIns="0" rtlCol="0" anchor="t"/>
          <a:lstStyle/>
          <a:p>
            <a:pPr indent="0" marL="0">
              <a:buNone/>
            </a:pPr>
            <a:r>
              <a:rPr lang="en-US" sz="1350" dirty="0">
                <a:solidFill>
                  <a:schemeClr val="tx2"/>
                </a:solidFill>
              </a:rPr>
              <a:t>Five chip questions on day one. What you follow, your level, why you learn, how you like things explained, the tone.</a:t>
            </a:r>
            <a:endParaRPr lang="en-US" sz="1350" dirty="0"/>
          </a:p>
        </p:txBody>
      </p:sp>
      <p:sp>
        <p:nvSpPr>
          <p:cNvPr id="7" name="stamp 2"/>
          <p:cNvSpPr/>
          <p:nvPr/>
        </p:nvSpPr>
        <p:spPr>
          <a:xfrm>
            <a:off x="548640" y="2697480"/>
            <a:ext cx="566928" cy="566928"/>
          </a:xfrm>
          <a:prstGeom prst="ellipse">
            <a:avLst/>
          </a:prstGeom>
          <a:solidFill>
            <a:schemeClr val="tx1"/>
          </a:solidFill>
          <a:ln w="12700">
            <a:solidFill>
              <a:schemeClr val="tx1"/>
            </a:solidFill>
            <a:prstDash val="solid"/>
          </a:ln>
        </p:spPr>
      </p:sp>
      <p:sp>
        <p:nvSpPr>
          <p:cNvPr id="8" name="stamp 2 label"/>
          <p:cNvSpPr txBox="1"/>
          <p:nvPr/>
        </p:nvSpPr>
        <p:spPr>
          <a:xfrm>
            <a:off x="548640" y="2697480"/>
            <a:ext cx="566928" cy="566928"/>
          </a:xfrm>
          <a:prstGeom prst="rect">
            <a:avLst/>
          </a:prstGeom>
          <a:noFill/>
          <a:ln/>
        </p:spPr>
        <p:txBody>
          <a:bodyPr wrap="square" lIns="0" tIns="0" rIns="0" bIns="0" rtlCol="0" anchor="ctr"/>
          <a:lstStyle/>
          <a:p>
            <a:pPr algn="ctr" indent="0" marL="0">
              <a:buNone/>
            </a:pPr>
            <a:r>
              <a:rPr lang="en-US" sz="1600" b="1" dirty="0">
                <a:solidFill>
                  <a:schemeClr val="bg2"/>
                </a:solidFill>
              </a:rPr>
              <a:t>2</a:t>
            </a:r>
            <a:endParaRPr lang="en-US" sz="1600" dirty="0"/>
          </a:p>
        </p:txBody>
      </p:sp>
      <p:sp>
        <p:nvSpPr>
          <p:cNvPr id="9" name="part Daily issue head">
            <a:hlinkClick r:id="rId2" tooltip="Go to Daily issue" action="ppaction://hlinksldjump"/>
          </p:cNvPr>
          <p:cNvSpPr txBox="1"/>
          <p:nvPr/>
        </p:nvSpPr>
        <p:spPr>
          <a:xfrm>
            <a:off x="1325880" y="2606040"/>
            <a:ext cx="6035040" cy="365760"/>
          </a:xfrm>
          <a:prstGeom prst="rect">
            <a:avLst/>
          </a:prstGeom>
          <a:noFill/>
          <a:ln/>
        </p:spPr>
        <p:txBody>
          <a:bodyPr wrap="square" lIns="0" tIns="0" rIns="0" bIns="0" rtlCol="0" anchor="ctr"/>
          <a:lstStyle/>
          <a:p>
            <a:pPr indent="0" marL="0">
              <a:buNone/>
            </a:pPr>
            <a:r>
              <a:rPr lang="en-US" sz="1800" b="1" u="sng" dirty="0">
                <a:solidFill>
                  <a:schemeClr val="tx1"/>
                </a:solidFill>
                <a:hlinkClick r:id="rId2" action="ppaction://hlinksldjump" tooltip="Go to Daily issue">
                  <a:extLst>
                    <a:ext uri="{A12FA001-AC4F-418D-AE19-62706E023703}">
                      <ahyp:hlinkClr xmlns:ahyp="http://schemas.microsoft.com/office/drawing/2018/hyperlinkcolor" val="tx"/>
                    </a:ext>
                  </a:extLst>
                </a:hlinkClick>
              </a:rPr>
              <a:t>Daily issue</a:t>
            </a:r>
            <a:endParaRPr lang="en-US" sz="1800" dirty="0"/>
          </a:p>
        </p:txBody>
      </p:sp>
      <p:sp>
        <p:nvSpPr>
          <p:cNvPr id="10" name="part Daily issue body"/>
          <p:cNvSpPr txBox="1"/>
          <p:nvPr/>
        </p:nvSpPr>
        <p:spPr>
          <a:xfrm>
            <a:off x="1325880" y="2990088"/>
            <a:ext cx="6035040" cy="731520"/>
          </a:xfrm>
          <a:prstGeom prst="rect">
            <a:avLst/>
          </a:prstGeom>
          <a:noFill/>
          <a:ln/>
        </p:spPr>
        <p:txBody>
          <a:bodyPr wrap="square" lIns="0" tIns="0" rIns="0" bIns="0" rtlCol="0" anchor="t"/>
          <a:lstStyle/>
          <a:p>
            <a:pPr indent="0" marL="0">
              <a:buNone/>
            </a:pPr>
            <a:r>
              <a:rPr lang="en-US" sz="1350" dirty="0">
                <a:solidFill>
                  <a:schemeClr val="tx2"/>
                </a:solidFill>
              </a:rPr>
              <a:t>Every day it searches the news for your topics and writes a nine-card deck per story, plus short decks per interest.</a:t>
            </a:r>
            <a:endParaRPr lang="en-US" sz="1350" dirty="0"/>
          </a:p>
        </p:txBody>
      </p:sp>
      <p:sp>
        <p:nvSpPr>
          <p:cNvPr id="11" name="stamp 3"/>
          <p:cNvSpPr/>
          <p:nvPr/>
        </p:nvSpPr>
        <p:spPr>
          <a:xfrm>
            <a:off x="548640" y="3886200"/>
            <a:ext cx="566928" cy="566928"/>
          </a:xfrm>
          <a:prstGeom prst="ellipse">
            <a:avLst/>
          </a:prstGeom>
          <a:solidFill>
            <a:schemeClr val="tx1"/>
          </a:solidFill>
          <a:ln w="12700">
            <a:solidFill>
              <a:schemeClr val="tx1"/>
            </a:solidFill>
            <a:prstDash val="solid"/>
          </a:ln>
        </p:spPr>
      </p:sp>
      <p:sp>
        <p:nvSpPr>
          <p:cNvPr id="12" name="stamp 3 label"/>
          <p:cNvSpPr txBox="1"/>
          <p:nvPr/>
        </p:nvSpPr>
        <p:spPr>
          <a:xfrm>
            <a:off x="548640" y="3886200"/>
            <a:ext cx="566928" cy="566928"/>
          </a:xfrm>
          <a:prstGeom prst="rect">
            <a:avLst/>
          </a:prstGeom>
          <a:noFill/>
          <a:ln/>
        </p:spPr>
        <p:txBody>
          <a:bodyPr wrap="square" lIns="0" tIns="0" rIns="0" bIns="0" rtlCol="0" anchor="ctr"/>
          <a:lstStyle/>
          <a:p>
            <a:pPr algn="ctr" indent="0" marL="0">
              <a:buNone/>
            </a:pPr>
            <a:r>
              <a:rPr lang="en-US" sz="1600" b="1" dirty="0">
                <a:solidFill>
                  <a:schemeClr val="bg2"/>
                </a:solidFill>
              </a:rPr>
              <a:t>3</a:t>
            </a:r>
            <a:endParaRPr lang="en-US" sz="1600" dirty="0"/>
          </a:p>
        </p:txBody>
      </p:sp>
      <p:sp>
        <p:nvSpPr>
          <p:cNvPr id="13" name="part Make it stick head">
            <a:hlinkClick r:id="rId3" tooltip="Go to Make it stick" action="ppaction://hlinksldjump"/>
          </p:cNvPr>
          <p:cNvSpPr txBox="1"/>
          <p:nvPr/>
        </p:nvSpPr>
        <p:spPr>
          <a:xfrm>
            <a:off x="1325880" y="3794760"/>
            <a:ext cx="6035040" cy="365760"/>
          </a:xfrm>
          <a:prstGeom prst="rect">
            <a:avLst/>
          </a:prstGeom>
          <a:noFill/>
          <a:ln/>
        </p:spPr>
        <p:txBody>
          <a:bodyPr wrap="square" lIns="0" tIns="0" rIns="0" bIns="0" rtlCol="0" anchor="ctr"/>
          <a:lstStyle/>
          <a:p>
            <a:pPr indent="0" marL="0">
              <a:buNone/>
            </a:pPr>
            <a:r>
              <a:rPr lang="en-US" sz="1800" b="1" u="sng" dirty="0">
                <a:solidFill>
                  <a:schemeClr val="tx1"/>
                </a:solidFill>
                <a:hlinkClick r:id="rId3" action="ppaction://hlinksldjump" tooltip="Go to Make it stick">
                  <a:extLst>
                    <a:ext uri="{A12FA001-AC4F-418D-AE19-62706E023703}">
                      <ahyp:hlinkClr xmlns:ahyp="http://schemas.microsoft.com/office/drawing/2018/hyperlinkcolor" val="tx"/>
                    </a:ext>
                  </a:extLst>
                </a:hlinkClick>
              </a:rPr>
              <a:t>Make it stick</a:t>
            </a:r>
            <a:endParaRPr lang="en-US" sz="1800" dirty="0"/>
          </a:p>
        </p:txBody>
      </p:sp>
      <p:sp>
        <p:nvSpPr>
          <p:cNvPr id="14" name="part Make it stick body"/>
          <p:cNvSpPr txBox="1"/>
          <p:nvPr/>
        </p:nvSpPr>
        <p:spPr>
          <a:xfrm>
            <a:off x="1325880" y="4178808"/>
            <a:ext cx="6035040" cy="731520"/>
          </a:xfrm>
          <a:prstGeom prst="rect">
            <a:avLst/>
          </a:prstGeom>
          <a:noFill/>
          <a:ln/>
        </p:spPr>
        <p:txBody>
          <a:bodyPr wrap="square" lIns="0" tIns="0" rIns="0" bIns="0" rtlCol="0" anchor="t"/>
          <a:lstStyle/>
          <a:p>
            <a:pPr indent="0" marL="0">
              <a:buNone/>
            </a:pPr>
            <a:r>
              <a:rPr lang="en-US" sz="1350" dirty="0">
                <a:solidFill>
                  <a:schemeClr val="tx2"/>
                </a:solidFill>
              </a:rPr>
              <a:t>Every deck ends with a quiz, a teach-it-back box that gets marked, the sources, and a summary podcast.</a:t>
            </a:r>
            <a:endParaRPr lang="en-US" sz="1350" dirty="0"/>
          </a:p>
        </p:txBody>
      </p:sp>
      <p:sp>
        <p:nvSpPr>
          <p:cNvPr id="15" name="stamp 4"/>
          <p:cNvSpPr/>
          <p:nvPr/>
        </p:nvSpPr>
        <p:spPr>
          <a:xfrm>
            <a:off x="548640" y="5074920"/>
            <a:ext cx="566928" cy="566928"/>
          </a:xfrm>
          <a:prstGeom prst="ellipse">
            <a:avLst/>
          </a:prstGeom>
          <a:solidFill>
            <a:schemeClr val="tx1"/>
          </a:solidFill>
          <a:ln w="12700">
            <a:solidFill>
              <a:schemeClr val="tx1"/>
            </a:solidFill>
            <a:prstDash val="solid"/>
          </a:ln>
        </p:spPr>
      </p:sp>
      <p:sp>
        <p:nvSpPr>
          <p:cNvPr id="16" name="stamp 4 label"/>
          <p:cNvSpPr txBox="1"/>
          <p:nvPr/>
        </p:nvSpPr>
        <p:spPr>
          <a:xfrm>
            <a:off x="548640" y="5074920"/>
            <a:ext cx="566928" cy="566928"/>
          </a:xfrm>
          <a:prstGeom prst="rect">
            <a:avLst/>
          </a:prstGeom>
          <a:noFill/>
          <a:ln/>
        </p:spPr>
        <p:txBody>
          <a:bodyPr wrap="square" lIns="0" tIns="0" rIns="0" bIns="0" rtlCol="0" anchor="ctr"/>
          <a:lstStyle/>
          <a:p>
            <a:pPr algn="ctr" indent="0" marL="0">
              <a:buNone/>
            </a:pPr>
            <a:r>
              <a:rPr lang="en-US" sz="1600" b="1" dirty="0">
                <a:solidFill>
                  <a:schemeClr val="bg2"/>
                </a:solidFill>
              </a:rPr>
              <a:t>4</a:t>
            </a:r>
            <a:endParaRPr lang="en-US" sz="1600" dirty="0"/>
          </a:p>
        </p:txBody>
      </p:sp>
      <p:sp>
        <p:nvSpPr>
          <p:cNvPr id="17" name="part Talk and Ask head">
            <a:hlinkClick r:id="rId4" tooltip="Go to Talk and Ask" action="ppaction://hlinksldjump"/>
          </p:cNvPr>
          <p:cNvSpPr txBox="1"/>
          <p:nvPr/>
        </p:nvSpPr>
        <p:spPr>
          <a:xfrm>
            <a:off x="1325880" y="4983480"/>
            <a:ext cx="6035040" cy="365760"/>
          </a:xfrm>
          <a:prstGeom prst="rect">
            <a:avLst/>
          </a:prstGeom>
          <a:noFill/>
          <a:ln/>
        </p:spPr>
        <p:txBody>
          <a:bodyPr wrap="square" lIns="0" tIns="0" rIns="0" bIns="0" rtlCol="0" anchor="ctr"/>
          <a:lstStyle/>
          <a:p>
            <a:pPr indent="0" marL="0">
              <a:buNone/>
            </a:pPr>
            <a:r>
              <a:rPr lang="en-US" sz="1800" b="1" u="sng" dirty="0">
                <a:solidFill>
                  <a:schemeClr val="tx1"/>
                </a:solidFill>
                <a:hlinkClick r:id="rId4" action="ppaction://hlinksldjump" tooltip="Go to Talk and Ask">
                  <a:extLst>
                    <a:ext uri="{A12FA001-AC4F-418D-AE19-62706E023703}">
                      <ahyp:hlinkClr xmlns:ahyp="http://schemas.microsoft.com/office/drawing/2018/hyperlinkcolor" val="tx"/>
                    </a:ext>
                  </a:extLst>
                </a:hlinkClick>
              </a:rPr>
              <a:t>Talk and Ask</a:t>
            </a:r>
            <a:endParaRPr lang="en-US" sz="1800" dirty="0"/>
          </a:p>
        </p:txBody>
      </p:sp>
      <p:sp>
        <p:nvSpPr>
          <p:cNvPr id="18" name="part Talk and Ask body"/>
          <p:cNvSpPr txBox="1"/>
          <p:nvPr/>
        </p:nvSpPr>
        <p:spPr>
          <a:xfrm>
            <a:off x="1325880" y="5367528"/>
            <a:ext cx="6035040" cy="731520"/>
          </a:xfrm>
          <a:prstGeom prst="rect">
            <a:avLst/>
          </a:prstGeom>
          <a:noFill/>
          <a:ln/>
        </p:spPr>
        <p:txBody>
          <a:bodyPr wrap="square" lIns="0" tIns="0" rIns="0" bIns="0" rtlCol="0" anchor="t"/>
          <a:lstStyle/>
          <a:p>
            <a:pPr indent="0" marL="0">
              <a:buNone/>
            </a:pPr>
            <a:r>
              <a:rPr lang="en-US" sz="1350" dirty="0">
                <a:solidFill>
                  <a:schemeClr val="tx2"/>
                </a:solidFill>
              </a:rPr>
              <a:t>A hands-free voice mode that chats about today, and a text Ask with live, cited research and learn actions.</a:t>
            </a:r>
            <a:endParaRPr lang="en-US" sz="1350" dirty="0"/>
          </a:p>
        </p:txBody>
      </p:sp>
      <p:sp>
        <p:nvSpPr>
          <p:cNvPr id="19" name="03-welcome frame"/>
          <p:cNvSpPr/>
          <p:nvPr/>
        </p:nvSpPr>
        <p:spPr>
          <a:xfrm>
            <a:off x="7936992" y="1261872"/>
            <a:ext cx="2282923" cy="4791456"/>
          </a:xfrm>
          <a:prstGeom prst="roundRect">
            <a:avLst>
              <a:gd name="adj" fmla="val 8812"/>
            </a:avLst>
          </a:prstGeom>
          <a:solidFill>
            <a:schemeClr val="tx1"/>
          </a:solidFill>
          <a:ln/>
          <a:effectLst>
            <a:outerShdw sx="100000" sy="100000" kx="0" ky="0" algn="bl" rotWithShape="0" blurRad="76200" dist="25400" dir="5400000">
              <a:srgbClr val="141310">
                <a:alpha val="18000"/>
              </a:srgbClr>
            </a:outerShdw>
          </a:effectLst>
        </p:spPr>
      </p:sp>
      <p:pic>
        <p:nvPicPr>
          <p:cNvPr id="20" name="03-welcome screen" descr="/private/tmp/claude-502/-Users-surya-Desktop-Hackathon-Team-cogniv8--F-/77fb1a42-404d-4abc-a9b4-2d62a58e4298/scratchpad/deck/img/03-welcome.jpg">
            <a:hlinkClick r:id="rId6" tooltip="Jump to this part" action="ppaction://hlinksldjump"/>
          </p:cNvPr>
          <p:cNvPicPr>
            <a:picLocks noChangeAspect="1"/>
          </p:cNvPicPr>
          <p:nvPr/>
        </p:nvPicPr>
        <p:blipFill>
          <a:blip r:embed="rId5"/>
          <a:stretch>
            <a:fillRect/>
          </a:stretch>
        </p:blipFill>
        <p:spPr>
          <a:xfrm>
            <a:off x="8001000" y="1325880"/>
            <a:ext cx="2154907" cy="4663440"/>
          </a:xfrm>
          <a:prstGeom prst="rect">
            <a:avLst/>
          </a:prstGeom>
        </p:spPr>
      </p:pic>
      <p:sp>
        <p:nvSpPr>
          <p:cNvPr id="21" name="no login"/>
          <p:cNvSpPr txBox="1"/>
          <p:nvPr/>
        </p:nvSpPr>
        <p:spPr>
          <a:xfrm>
            <a:off x="7589520" y="6080760"/>
            <a:ext cx="4023360" cy="274320"/>
          </a:xfrm>
          <a:prstGeom prst="rect">
            <a:avLst/>
          </a:prstGeom>
          <a:noFill/>
          <a:ln/>
        </p:spPr>
        <p:txBody>
          <a:bodyPr wrap="square" lIns="0" tIns="0" rIns="0" bIns="0" rtlCol="0" anchor="ctr"/>
          <a:lstStyle/>
          <a:p>
            <a:pPr algn="ctr" indent="0" marL="0">
              <a:buNone/>
            </a:pPr>
            <a:r>
              <a:rPr lang="en-US" sz="1100" dirty="0">
                <a:solidFill>
                  <a:schemeClr val="tx2"/>
                </a:solidFill>
              </a:rPr>
              <a:t>No login needed. A judge can pick it up and use it unaided.</a:t>
            </a:r>
            <a:endParaRPr lang="en-US" sz="1100" dirty="0"/>
          </a:p>
        </p:txBody>
      </p:sp>
      <p:sp>
        <p:nvSpPr>
          <p:cNvPr id="22" name="chip Contents"/>
          <p:cNvSpPr/>
          <p:nvPr/>
        </p:nvSpPr>
        <p:spPr>
          <a:xfrm>
            <a:off x="10058400" y="6355080"/>
            <a:ext cx="1097280" cy="329184"/>
          </a:xfrm>
          <a:prstGeom prst="roundRect">
            <a:avLst>
              <a:gd name="adj" fmla="val 33333"/>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23" name="chip Contents label">
            <a:hlinkClick r:id="rId7" tooltip="Back to the contents" action="ppaction://hlinksldjump"/>
          </p:cNvPr>
          <p:cNvSpPr txBox="1"/>
          <p:nvPr/>
        </p:nvSpPr>
        <p:spPr>
          <a:xfrm>
            <a:off x="10058400" y="6355080"/>
            <a:ext cx="1097280" cy="329184"/>
          </a:xfrm>
          <a:prstGeom prst="rect">
            <a:avLst/>
          </a:prstGeom>
          <a:noFill/>
          <a:ln/>
        </p:spPr>
        <p:txBody>
          <a:bodyPr wrap="square" lIns="0" tIns="0" rIns="0" bIns="0" rtlCol="0" anchor="ctr"/>
          <a:lstStyle/>
          <a:p>
            <a:pPr algn="ctr" indent="0" marL="0">
              <a:buNone/>
            </a:pPr>
            <a:r>
              <a:rPr lang="en-US" sz="1000" b="1" u="sng" dirty="0">
                <a:solidFill>
                  <a:schemeClr val="tx1"/>
                </a:solidFill>
                <a:hlinkClick r:id="rId7" action="ppaction://hlinksldjump" tooltip="Back to the contents">
                  <a:extLst>
                    <a:ext uri="{A12FA001-AC4F-418D-AE19-62706E023703}">
                      <ahyp:hlinkClr xmlns:ahyp="http://schemas.microsoft.com/office/drawing/2018/hyperlinkcolor" val="tx"/>
                    </a:ext>
                  </a:extLst>
                </a:hlinkClick>
              </a:rPr>
              <a:t>Contents</a:t>
            </a:r>
            <a:endParaRPr lang="en-US" sz="10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058400" cy="822960"/>
          </a:xfrm>
          <a:prstGeom prst="rect">
            <a:avLst/>
          </a:prstGeom>
          <a:noFill/>
          <a:ln/>
        </p:spPr>
        <p:txBody>
          <a:bodyPr wrap="square" lIns="0" tIns="0" rIns="0" bIns="0" rtlCol="0" anchor="ctr"/>
          <a:lstStyle/>
          <a:p>
            <a:pPr algn="l" indent="0" marL="0">
              <a:buNone/>
            </a:pPr>
            <a:r>
              <a:rPr lang="en-US" sz="3000" b="1" dirty="0">
                <a:solidFill>
                  <a:schemeClr val="tx1"/>
                </a:solidFill>
              </a:rPr>
              <a:t>A reader's first minute: notification to first issue</a:t>
            </a:r>
            <a:endParaRPr lang="en-US" sz="3000" dirty="0"/>
          </a:p>
        </p:txBody>
      </p:sp>
      <p:sp>
        <p:nvSpPr>
          <p:cNvPr id="3" name="01-opening frame"/>
          <p:cNvSpPr/>
          <p:nvPr/>
        </p:nvSpPr>
        <p:spPr>
          <a:xfrm>
            <a:off x="484632" y="1353312"/>
            <a:ext cx="1944898" cy="4059936"/>
          </a:xfrm>
          <a:prstGeom prst="roundRect">
            <a:avLst>
              <a:gd name="adj" fmla="val 10343"/>
            </a:avLst>
          </a:prstGeom>
          <a:solidFill>
            <a:schemeClr val="tx1"/>
          </a:solidFill>
          <a:ln/>
          <a:effectLst>
            <a:outerShdw sx="100000" sy="100000" kx="0" ky="0" algn="bl" rotWithShape="0" blurRad="76200" dist="25400" dir="5400000">
              <a:srgbClr val="141310">
                <a:alpha val="18000"/>
              </a:srgbClr>
            </a:outerShdw>
          </a:effectLst>
        </p:spPr>
      </p:sp>
      <p:pic>
        <p:nvPicPr>
          <p:cNvPr id="4" name="01-opening screen" descr="/private/tmp/claude-502/-Users-surya-Desktop-Hackathon-Team-cogniv8--F-/77fb1a42-404d-4abc-a9b4-2d62a58e4298/scratchpad/deck/img/01-opening.jpg">
            <a:hlinkClick r:id="rId2" tooltip="Jump to this part" action="ppaction://hlinksldjump"/>
          </p:cNvPr>
          <p:cNvPicPr>
            <a:picLocks noChangeAspect="1"/>
          </p:cNvPicPr>
          <p:nvPr/>
        </p:nvPicPr>
        <p:blipFill>
          <a:blip r:embed="rId1"/>
          <a:stretch>
            <a:fillRect/>
          </a:stretch>
        </p:blipFill>
        <p:spPr>
          <a:xfrm>
            <a:off x="548640" y="1417320"/>
            <a:ext cx="1816882" cy="3931920"/>
          </a:xfrm>
          <a:prstGeom prst="rect">
            <a:avLst/>
          </a:prstGeom>
        </p:spPr>
      </p:pic>
      <p:sp>
        <p:nvSpPr>
          <p:cNvPr id="5" name="01-opening caption"/>
          <p:cNvSpPr txBox="1"/>
          <p:nvPr/>
        </p:nvSpPr>
        <p:spPr>
          <a:xfrm>
            <a:off x="274320" y="5486400"/>
            <a:ext cx="2365522" cy="457200"/>
          </a:xfrm>
          <a:prstGeom prst="rect">
            <a:avLst/>
          </a:prstGeom>
          <a:noFill/>
          <a:ln/>
        </p:spPr>
        <p:txBody>
          <a:bodyPr wrap="square" lIns="0" tIns="0" rIns="0" bIns="0" rtlCol="0" anchor="t"/>
          <a:lstStyle/>
          <a:p>
            <a:pPr algn="ctr" indent="0" marL="0">
              <a:buNone/>
            </a:pPr>
            <a:r>
              <a:rPr lang="en-US" sz="1200" dirty="0">
                <a:solidFill>
                  <a:schemeClr val="tx2"/>
                </a:solidFill>
              </a:rPr>
              <a:t>A notification lands on paper. Tap it and the app opens.</a:t>
            </a:r>
            <a:endParaRPr lang="en-US" sz="1200" dirty="0"/>
          </a:p>
        </p:txBody>
      </p:sp>
      <p:sp>
        <p:nvSpPr>
          <p:cNvPr id="6" name="stamp 1"/>
          <p:cNvSpPr/>
          <p:nvPr/>
        </p:nvSpPr>
        <p:spPr>
          <a:xfrm>
            <a:off x="365760" y="1188720"/>
            <a:ext cx="457200" cy="457200"/>
          </a:xfrm>
          <a:prstGeom prst="ellipse">
            <a:avLst/>
          </a:prstGeom>
          <a:solidFill>
            <a:schemeClr val="accent1"/>
          </a:solidFill>
          <a:ln w="12700">
            <a:solidFill>
              <a:schemeClr val="accent1"/>
            </a:solidFill>
            <a:prstDash val="solid"/>
          </a:ln>
        </p:spPr>
      </p:sp>
      <p:sp>
        <p:nvSpPr>
          <p:cNvPr id="7" name="stamp 1 label"/>
          <p:cNvSpPr txBox="1"/>
          <p:nvPr/>
        </p:nvSpPr>
        <p:spPr>
          <a:xfrm>
            <a:off x="365760" y="118872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8" name="04-q1 frame"/>
          <p:cNvSpPr/>
          <p:nvPr/>
        </p:nvSpPr>
        <p:spPr>
          <a:xfrm>
            <a:off x="3577143" y="1353312"/>
            <a:ext cx="1944898" cy="4059936"/>
          </a:xfrm>
          <a:prstGeom prst="roundRect">
            <a:avLst>
              <a:gd name="adj" fmla="val 10343"/>
            </a:avLst>
          </a:prstGeom>
          <a:solidFill>
            <a:schemeClr val="tx1"/>
          </a:solidFill>
          <a:ln/>
          <a:effectLst>
            <a:outerShdw sx="100000" sy="100000" kx="0" ky="0" algn="bl" rotWithShape="0" blurRad="76200" dist="25400" dir="5400000">
              <a:srgbClr val="141310">
                <a:alpha val="18000"/>
              </a:srgbClr>
            </a:outerShdw>
          </a:effectLst>
        </p:spPr>
      </p:sp>
      <p:pic>
        <p:nvPicPr>
          <p:cNvPr id="9" name="04-q1 screen" descr="/private/tmp/claude-502/-Users-surya-Desktop-Hackathon-Team-cogniv8--F-/77fb1a42-404d-4abc-a9b4-2d62a58e4298/scratchpad/deck/img/04-q1.jpg">
            <a:hlinkClick r:id="rId4" tooltip="Jump to this part" action="ppaction://hlinksldjump"/>
          </p:cNvPr>
          <p:cNvPicPr>
            <a:picLocks noChangeAspect="1"/>
          </p:cNvPicPr>
          <p:nvPr/>
        </p:nvPicPr>
        <p:blipFill>
          <a:blip r:embed="rId3"/>
          <a:stretch>
            <a:fillRect/>
          </a:stretch>
        </p:blipFill>
        <p:spPr>
          <a:xfrm>
            <a:off x="3641151" y="1417320"/>
            <a:ext cx="1816882" cy="3931920"/>
          </a:xfrm>
          <a:prstGeom prst="rect">
            <a:avLst/>
          </a:prstGeom>
        </p:spPr>
      </p:pic>
      <p:sp>
        <p:nvSpPr>
          <p:cNvPr id="10" name="04-q1 caption"/>
          <p:cNvSpPr txBox="1"/>
          <p:nvPr/>
        </p:nvSpPr>
        <p:spPr>
          <a:xfrm>
            <a:off x="3366831" y="5486400"/>
            <a:ext cx="2365522" cy="457200"/>
          </a:xfrm>
          <a:prstGeom prst="rect">
            <a:avLst/>
          </a:prstGeom>
          <a:noFill/>
          <a:ln/>
        </p:spPr>
        <p:txBody>
          <a:bodyPr wrap="square" lIns="0" tIns="0" rIns="0" bIns="0" rtlCol="0" anchor="t"/>
          <a:lstStyle/>
          <a:p>
            <a:pPr algn="ctr" indent="0" marL="0">
              <a:buNone/>
            </a:pPr>
            <a:r>
              <a:rPr lang="en-US" sz="1200" dirty="0">
                <a:solidFill>
                  <a:schemeClr val="tx2"/>
                </a:solidFill>
              </a:rPr>
              <a:t>Five chip questions. Questions two to five follow the topics picked in one.</a:t>
            </a:r>
            <a:endParaRPr lang="en-US" sz="1200" dirty="0"/>
          </a:p>
        </p:txBody>
      </p:sp>
      <p:sp>
        <p:nvSpPr>
          <p:cNvPr id="11" name="stamp 2"/>
          <p:cNvSpPr/>
          <p:nvPr/>
        </p:nvSpPr>
        <p:spPr>
          <a:xfrm>
            <a:off x="3458271" y="1188720"/>
            <a:ext cx="457200" cy="457200"/>
          </a:xfrm>
          <a:prstGeom prst="ellipse">
            <a:avLst/>
          </a:prstGeom>
          <a:solidFill>
            <a:schemeClr val="accent1"/>
          </a:solidFill>
          <a:ln w="12700">
            <a:solidFill>
              <a:schemeClr val="accent1"/>
            </a:solidFill>
            <a:prstDash val="solid"/>
          </a:ln>
        </p:spPr>
      </p:sp>
      <p:sp>
        <p:nvSpPr>
          <p:cNvPr id="12" name="stamp 2 label"/>
          <p:cNvSpPr txBox="1"/>
          <p:nvPr/>
        </p:nvSpPr>
        <p:spPr>
          <a:xfrm>
            <a:off x="3458271" y="118872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3" name="06-reader-card frame"/>
          <p:cNvSpPr/>
          <p:nvPr/>
        </p:nvSpPr>
        <p:spPr>
          <a:xfrm>
            <a:off x="6669654" y="1353312"/>
            <a:ext cx="1944898" cy="4059936"/>
          </a:xfrm>
          <a:prstGeom prst="roundRect">
            <a:avLst>
              <a:gd name="adj" fmla="val 10343"/>
            </a:avLst>
          </a:prstGeom>
          <a:solidFill>
            <a:schemeClr val="tx1"/>
          </a:solidFill>
          <a:ln/>
          <a:effectLst>
            <a:outerShdw sx="100000" sy="100000" kx="0" ky="0" algn="bl" rotWithShape="0" blurRad="76200" dist="25400" dir="5400000">
              <a:srgbClr val="141310">
                <a:alpha val="18000"/>
              </a:srgbClr>
            </a:outerShdw>
          </a:effectLst>
        </p:spPr>
      </p:sp>
      <p:pic>
        <p:nvPicPr>
          <p:cNvPr id="14" name="06-reader-card screen" descr="/private/tmp/claude-502/-Users-surya-Desktop-Hackathon-Team-cogniv8--F-/77fb1a42-404d-4abc-a9b4-2d62a58e4298/scratchpad/deck/img/06-reader-card.jpg">
            <a:hlinkClick r:id="rId6" tooltip="Jump to this part" action="ppaction://hlinksldjump"/>
          </p:cNvPr>
          <p:cNvPicPr>
            <a:picLocks noChangeAspect="1"/>
          </p:cNvPicPr>
          <p:nvPr/>
        </p:nvPicPr>
        <p:blipFill>
          <a:blip r:embed="rId5"/>
          <a:stretch>
            <a:fillRect/>
          </a:stretch>
        </p:blipFill>
        <p:spPr>
          <a:xfrm>
            <a:off x="6733662" y="1417320"/>
            <a:ext cx="1816882" cy="3931920"/>
          </a:xfrm>
          <a:prstGeom prst="rect">
            <a:avLst/>
          </a:prstGeom>
        </p:spPr>
      </p:pic>
      <p:sp>
        <p:nvSpPr>
          <p:cNvPr id="15" name="06-reader-card caption"/>
          <p:cNvSpPr txBox="1"/>
          <p:nvPr/>
        </p:nvSpPr>
        <p:spPr>
          <a:xfrm>
            <a:off x="6459342" y="5486400"/>
            <a:ext cx="2365522" cy="457200"/>
          </a:xfrm>
          <a:prstGeom prst="rect">
            <a:avLst/>
          </a:prstGeom>
          <a:noFill/>
          <a:ln/>
        </p:spPr>
        <p:txBody>
          <a:bodyPr wrap="square" lIns="0" tIns="0" rIns="0" bIns="0" rtlCol="0" anchor="t"/>
          <a:lstStyle/>
          <a:p>
            <a:pPr algn="ctr" indent="0" marL="0">
              <a:buNone/>
            </a:pPr>
            <a:r>
              <a:rPr lang="en-US" sz="1200" dirty="0">
                <a:solidFill>
                  <a:schemeClr val="tx2"/>
                </a:solidFill>
              </a:rPr>
              <a:t>The reader card: what CurioX learned, editable any time under You.</a:t>
            </a:r>
            <a:endParaRPr lang="en-US" sz="1200" dirty="0"/>
          </a:p>
        </p:txBody>
      </p:sp>
      <p:sp>
        <p:nvSpPr>
          <p:cNvPr id="16" name="stamp 3"/>
          <p:cNvSpPr/>
          <p:nvPr/>
        </p:nvSpPr>
        <p:spPr>
          <a:xfrm>
            <a:off x="6550782" y="1188720"/>
            <a:ext cx="457200" cy="457200"/>
          </a:xfrm>
          <a:prstGeom prst="ellipse">
            <a:avLst/>
          </a:prstGeom>
          <a:solidFill>
            <a:schemeClr val="accent1"/>
          </a:solidFill>
          <a:ln w="12700">
            <a:solidFill>
              <a:schemeClr val="accent1"/>
            </a:solidFill>
            <a:prstDash val="solid"/>
          </a:ln>
        </p:spPr>
      </p:sp>
      <p:sp>
        <p:nvSpPr>
          <p:cNvPr id="17" name="stamp 3 label"/>
          <p:cNvSpPr txBox="1"/>
          <p:nvPr/>
        </p:nvSpPr>
        <p:spPr>
          <a:xfrm>
            <a:off x="6550782" y="118872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8" name="07-home frame"/>
          <p:cNvSpPr/>
          <p:nvPr/>
        </p:nvSpPr>
        <p:spPr>
          <a:xfrm>
            <a:off x="9762165" y="1353312"/>
            <a:ext cx="1944898" cy="4059936"/>
          </a:xfrm>
          <a:prstGeom prst="roundRect">
            <a:avLst>
              <a:gd name="adj" fmla="val 10343"/>
            </a:avLst>
          </a:prstGeom>
          <a:solidFill>
            <a:schemeClr val="tx1"/>
          </a:solidFill>
          <a:ln/>
          <a:effectLst>
            <a:outerShdw sx="100000" sy="100000" kx="0" ky="0" algn="bl" rotWithShape="0" blurRad="76200" dist="25400" dir="5400000">
              <a:srgbClr val="141310">
                <a:alpha val="18000"/>
              </a:srgbClr>
            </a:outerShdw>
          </a:effectLst>
        </p:spPr>
      </p:sp>
      <p:pic>
        <p:nvPicPr>
          <p:cNvPr id="19" name="07-home screen" descr="/private/tmp/claude-502/-Users-surya-Desktop-Hackathon-Team-cogniv8--F-/77fb1a42-404d-4abc-a9b4-2d62a58e4298/scratchpad/deck/img/07-home.jpg">
            <a:hlinkClick r:id="rId8" tooltip="Jump to this part" action="ppaction://hlinksldjump"/>
          </p:cNvPr>
          <p:cNvPicPr>
            <a:picLocks noChangeAspect="1"/>
          </p:cNvPicPr>
          <p:nvPr/>
        </p:nvPicPr>
        <p:blipFill>
          <a:blip r:embed="rId7"/>
          <a:stretch>
            <a:fillRect/>
          </a:stretch>
        </p:blipFill>
        <p:spPr>
          <a:xfrm>
            <a:off x="9826173" y="1417320"/>
            <a:ext cx="1816882" cy="3931920"/>
          </a:xfrm>
          <a:prstGeom prst="rect">
            <a:avLst/>
          </a:prstGeom>
        </p:spPr>
      </p:pic>
      <p:sp>
        <p:nvSpPr>
          <p:cNvPr id="20" name="07-home caption"/>
          <p:cNvSpPr txBox="1"/>
          <p:nvPr/>
        </p:nvSpPr>
        <p:spPr>
          <a:xfrm>
            <a:off x="9551853" y="5486400"/>
            <a:ext cx="2365522" cy="457200"/>
          </a:xfrm>
          <a:prstGeom prst="rect">
            <a:avLst/>
          </a:prstGeom>
          <a:noFill/>
          <a:ln/>
        </p:spPr>
        <p:txBody>
          <a:bodyPr wrap="square" lIns="0" tIns="0" rIns="0" bIns="0" rtlCol="0" anchor="t"/>
          <a:lstStyle/>
          <a:p>
            <a:pPr algn="ctr" indent="0" marL="0">
              <a:buNone/>
            </a:pPr>
            <a:r>
              <a:rPr lang="en-US" sz="1200" dirty="0">
                <a:solidFill>
                  <a:schemeClr val="tx2"/>
                </a:solidFill>
              </a:rPr>
              <a:t>Today for you: the first issue, written while the questions were answered.</a:t>
            </a:r>
            <a:endParaRPr lang="en-US" sz="1200" dirty="0"/>
          </a:p>
        </p:txBody>
      </p:sp>
      <p:sp>
        <p:nvSpPr>
          <p:cNvPr id="21" name="stamp 4"/>
          <p:cNvSpPr/>
          <p:nvPr/>
        </p:nvSpPr>
        <p:spPr>
          <a:xfrm>
            <a:off x="9643293" y="1188720"/>
            <a:ext cx="457200" cy="457200"/>
          </a:xfrm>
          <a:prstGeom prst="ellipse">
            <a:avLst/>
          </a:prstGeom>
          <a:solidFill>
            <a:schemeClr val="accent1"/>
          </a:solidFill>
          <a:ln w="12700">
            <a:solidFill>
              <a:schemeClr val="accent1"/>
            </a:solidFill>
            <a:prstDash val="solid"/>
          </a:ln>
        </p:spPr>
      </p:sp>
      <p:sp>
        <p:nvSpPr>
          <p:cNvPr id="22" name="stamp 4 label"/>
          <p:cNvSpPr txBox="1"/>
          <p:nvPr/>
        </p:nvSpPr>
        <p:spPr>
          <a:xfrm>
            <a:off x="9643293" y="118872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3" name="chip Contents"/>
          <p:cNvSpPr/>
          <p:nvPr/>
        </p:nvSpPr>
        <p:spPr>
          <a:xfrm>
            <a:off x="10058400" y="6355080"/>
            <a:ext cx="1097280" cy="329184"/>
          </a:xfrm>
          <a:prstGeom prst="roundRect">
            <a:avLst>
              <a:gd name="adj" fmla="val 33333"/>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24" name="chip Contents label">
            <a:hlinkClick r:id="rId9" tooltip="Back to the contents" action="ppaction://hlinksldjump"/>
          </p:cNvPr>
          <p:cNvSpPr txBox="1"/>
          <p:nvPr/>
        </p:nvSpPr>
        <p:spPr>
          <a:xfrm>
            <a:off x="10058400" y="6355080"/>
            <a:ext cx="1097280" cy="329184"/>
          </a:xfrm>
          <a:prstGeom prst="rect">
            <a:avLst/>
          </a:prstGeom>
          <a:noFill/>
          <a:ln/>
        </p:spPr>
        <p:txBody>
          <a:bodyPr wrap="square" lIns="0" tIns="0" rIns="0" bIns="0" rtlCol="0" anchor="ctr"/>
          <a:lstStyle/>
          <a:p>
            <a:pPr algn="ctr" indent="0" marL="0">
              <a:buNone/>
            </a:pPr>
            <a:r>
              <a:rPr lang="en-US" sz="1000" b="1" u="sng" dirty="0">
                <a:solidFill>
                  <a:schemeClr val="tx1"/>
                </a:solidFill>
                <a:hlinkClick r:id="rId9" action="ppaction://hlinksldjump" tooltip="Back to the contents">
                  <a:extLst>
                    <a:ext uri="{A12FA001-AC4F-418D-AE19-62706E023703}">
                      <ahyp:hlinkClr xmlns:ahyp="http://schemas.microsoft.com/office/drawing/2018/hyperlinkcolor" val="tx"/>
                    </a:ext>
                  </a:extLst>
                </a:hlinkClick>
              </a:rPr>
              <a:t>Contents</a:t>
            </a:r>
            <a:endParaRPr lang="en-US" sz="10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058400" cy="822960"/>
          </a:xfrm>
          <a:prstGeom prst="rect">
            <a:avLst/>
          </a:prstGeom>
          <a:noFill/>
          <a:ln/>
        </p:spPr>
        <p:txBody>
          <a:bodyPr wrap="square" lIns="0" tIns="0" rIns="0" bIns="0" rtlCol="0" anchor="ctr"/>
          <a:lstStyle/>
          <a:p>
            <a:pPr algn="l" indent="0" marL="0">
              <a:buNone/>
            </a:pPr>
            <a:r>
              <a:rPr lang="en-US" sz="3000" b="1" dirty="0">
                <a:solidFill>
                  <a:schemeClr val="tx1"/>
                </a:solidFill>
              </a:rPr>
              <a:t>The daily issue: nine cards per story, written for you</a:t>
            </a:r>
            <a:endParaRPr lang="en-US" sz="3000" dirty="0"/>
          </a:p>
        </p:txBody>
      </p:sp>
      <p:sp>
        <p:nvSpPr>
          <p:cNvPr id="3" name="nine cards panel"/>
          <p:cNvSpPr/>
          <p:nvPr/>
        </p:nvSpPr>
        <p:spPr>
          <a:xfrm>
            <a:off x="548640" y="1371600"/>
            <a:ext cx="3017520" cy="466344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4" name="nine cards head"/>
          <p:cNvSpPr txBox="1"/>
          <p:nvPr/>
        </p:nvSpPr>
        <p:spPr>
          <a:xfrm>
            <a:off x="777240" y="1508760"/>
            <a:ext cx="2651760" cy="365760"/>
          </a:xfrm>
          <a:prstGeom prst="rect">
            <a:avLst/>
          </a:prstGeom>
          <a:noFill/>
          <a:ln/>
        </p:spPr>
        <p:txBody>
          <a:bodyPr wrap="square" lIns="0" tIns="0" rIns="0" bIns="0" rtlCol="0" anchor="ctr"/>
          <a:lstStyle/>
          <a:p>
            <a:pPr indent="0" marL="0">
              <a:buNone/>
            </a:pPr>
            <a:r>
              <a:rPr lang="en-US" sz="1500" b="1" dirty="0">
                <a:solidFill>
                  <a:schemeClr val="tx1"/>
                </a:solidFill>
              </a:rPr>
              <a:t>Every lead story</a:t>
            </a:r>
            <a:endParaRPr lang="en-US" sz="1500" dirty="0"/>
          </a:p>
        </p:txBody>
      </p:sp>
      <p:sp>
        <p:nvSpPr>
          <p:cNvPr id="5" name="nine cards list"/>
          <p:cNvSpPr txBox="1"/>
          <p:nvPr/>
        </p:nvSpPr>
        <p:spPr>
          <a:xfrm>
            <a:off x="777240" y="1920240"/>
            <a:ext cx="2651760" cy="3291840"/>
          </a:xfrm>
          <a:prstGeom prst="rect">
            <a:avLst/>
          </a:prstGeom>
          <a:noFill/>
          <a:ln/>
        </p:spPr>
        <p:txBody>
          <a:bodyPr wrap="square" lIns="0" tIns="0" rIns="0" bIns="0" rtlCol="0" anchor="t"/>
          <a:lstStyle/>
          <a:p>
            <a:pPr indent="0" marL="0">
              <a:spcAft>
                <a:spcPts val="500"/>
              </a:spcAft>
              <a:buNone/>
            </a:pPr>
            <a:r>
              <a:rPr lang="en-US" sz="1250" dirty="0">
                <a:solidFill>
                  <a:schemeClr val="tx1"/>
                </a:solidFill>
                <a:latin typeface="Courier New" pitchFamily="34" charset="0"/>
                <a:ea typeface="Courier New" pitchFamily="34" charset="-122"/>
                <a:cs typeface="Courier New" pitchFamily="34" charset="-120"/>
              </a:rPr>
              <a:t>1  Hook: did you know?</a:t>
            </a:r>
            <a:endParaRPr lang="en-US" sz="1250" dirty="0"/>
          </a:p>
          <a:p>
            <a:pPr indent="0" marL="0">
              <a:spcAft>
                <a:spcPts val="500"/>
              </a:spcAft>
              <a:buNone/>
            </a:pPr>
            <a:r>
              <a:rPr lang="en-US" sz="1250" dirty="0">
                <a:solidFill>
                  <a:schemeClr val="tx1"/>
                </a:solidFill>
                <a:latin typeface="Courier New" pitchFamily="34" charset="0"/>
                <a:ea typeface="Courier New" pitchFamily="34" charset="-122"/>
                <a:cs typeface="Courier New" pitchFamily="34" charset="-120"/>
              </a:rPr>
              <a:t>2  What happened</a:t>
            </a:r>
            <a:endParaRPr lang="en-US" sz="1250" dirty="0"/>
          </a:p>
          <a:p>
            <a:pPr indent="0" marL="0">
              <a:spcAft>
                <a:spcPts val="500"/>
              </a:spcAft>
              <a:buNone/>
            </a:pPr>
            <a:r>
              <a:rPr lang="en-US" sz="1250" dirty="0">
                <a:solidFill>
                  <a:schemeClr val="tx1"/>
                </a:solidFill>
                <a:latin typeface="Courier New" pitchFamily="34" charset="0"/>
                <a:ea typeface="Courier New" pitchFamily="34" charset="-122"/>
                <a:cs typeface="Courier New" pitchFamily="34" charset="-120"/>
              </a:rPr>
              <a:t>3  Why it matters to you</a:t>
            </a:r>
            <a:endParaRPr lang="en-US" sz="1250" dirty="0"/>
          </a:p>
          <a:p>
            <a:pPr indent="0" marL="0">
              <a:spcAft>
                <a:spcPts val="500"/>
              </a:spcAft>
              <a:buNone/>
            </a:pPr>
            <a:r>
              <a:rPr lang="en-US" sz="1250" dirty="0">
                <a:solidFill>
                  <a:schemeClr val="tx1"/>
                </a:solidFill>
                <a:latin typeface="Courier New" pitchFamily="34" charset="0"/>
                <a:ea typeface="Courier New" pitchFamily="34" charset="-122"/>
                <a:cs typeface="Courier New" pitchFamily="34" charset="-120"/>
              </a:rPr>
              <a:t>4  Myth or fact</a:t>
            </a:r>
            <a:endParaRPr lang="en-US" sz="1250" dirty="0"/>
          </a:p>
          <a:p>
            <a:pPr indent="0" marL="0">
              <a:spcAft>
                <a:spcPts val="500"/>
              </a:spcAft>
              <a:buNone/>
            </a:pPr>
            <a:r>
              <a:rPr lang="en-US" sz="1250" dirty="0">
                <a:solidFill>
                  <a:schemeClr val="tx1"/>
                </a:solidFill>
                <a:latin typeface="Courier New" pitchFamily="34" charset="0"/>
                <a:ea typeface="Courier New" pitchFamily="34" charset="-122"/>
                <a:cs typeface="Courier New" pitchFamily="34" charset="-120"/>
              </a:rPr>
              <a:t>5  Explain it three ways</a:t>
            </a:r>
            <a:endParaRPr lang="en-US" sz="1250" dirty="0"/>
          </a:p>
          <a:p>
            <a:pPr indent="0" marL="0">
              <a:spcAft>
                <a:spcPts val="500"/>
              </a:spcAft>
              <a:buNone/>
            </a:pPr>
            <a:r>
              <a:rPr lang="en-US" sz="1250" dirty="0">
                <a:solidFill>
                  <a:schemeClr val="tx1"/>
                </a:solidFill>
                <a:latin typeface="Courier New" pitchFamily="34" charset="0"/>
                <a:ea typeface="Courier New" pitchFamily="34" charset="-122"/>
                <a:cs typeface="Courier New" pitchFamily="34" charset="-120"/>
              </a:rPr>
              <a:t>6  This vs that</a:t>
            </a:r>
            <a:endParaRPr lang="en-US" sz="1250" dirty="0"/>
          </a:p>
          <a:p>
            <a:pPr indent="0" marL="0">
              <a:spcAft>
                <a:spcPts val="500"/>
              </a:spcAft>
              <a:buNone/>
            </a:pPr>
            <a:r>
              <a:rPr lang="en-US" sz="1250" dirty="0">
                <a:solidFill>
                  <a:schemeClr val="tx1"/>
                </a:solidFill>
                <a:latin typeface="Courier New" pitchFamily="34" charset="0"/>
                <a:ea typeface="Courier New" pitchFamily="34" charset="-122"/>
                <a:cs typeface="Courier New" pitchFamily="34" charset="-120"/>
              </a:rPr>
              <a:t>7  Guess the number</a:t>
            </a:r>
            <a:endParaRPr lang="en-US" sz="1250" dirty="0"/>
          </a:p>
          <a:p>
            <a:pPr indent="0" marL="0">
              <a:spcAft>
                <a:spcPts val="500"/>
              </a:spcAft>
              <a:buNone/>
            </a:pPr>
            <a:r>
              <a:rPr lang="en-US" sz="1250" dirty="0">
                <a:solidFill>
                  <a:schemeClr val="tx1"/>
                </a:solidFill>
                <a:latin typeface="Courier New" pitchFamily="34" charset="0"/>
                <a:ea typeface="Courier New" pitchFamily="34" charset="-122"/>
                <a:cs typeface="Courier New" pitchFamily="34" charset="-120"/>
              </a:rPr>
              <a:t>8  Watch it</a:t>
            </a:r>
            <a:endParaRPr lang="en-US" sz="1250" dirty="0"/>
          </a:p>
          <a:p>
            <a:pPr indent="0" marL="0">
              <a:spcAft>
                <a:spcPts val="500"/>
              </a:spcAft>
              <a:buNone/>
            </a:pPr>
            <a:r>
              <a:rPr lang="en-US" sz="1250" dirty="0">
                <a:solidFill>
                  <a:schemeClr val="tx1"/>
                </a:solidFill>
                <a:latin typeface="Courier New" pitchFamily="34" charset="0"/>
                <a:ea typeface="Courier New" pitchFamily="34" charset="-122"/>
                <a:cs typeface="Courier New" pitchFamily="34" charset="-120"/>
              </a:rPr>
              <a:t>9  Finale: make it stick</a:t>
            </a:r>
            <a:endParaRPr lang="en-US" sz="1250" dirty="0"/>
          </a:p>
        </p:txBody>
      </p:sp>
      <p:sp>
        <p:nvSpPr>
          <p:cNvPr id="6" name="nine cards foot"/>
          <p:cNvSpPr txBox="1"/>
          <p:nvPr/>
        </p:nvSpPr>
        <p:spPr>
          <a:xfrm>
            <a:off x="777240" y="5257800"/>
            <a:ext cx="2651760" cy="640080"/>
          </a:xfrm>
          <a:prstGeom prst="rect">
            <a:avLst/>
          </a:prstGeom>
          <a:noFill/>
          <a:ln/>
        </p:spPr>
        <p:txBody>
          <a:bodyPr wrap="square" lIns="0" tIns="0" rIns="0" bIns="0" rtlCol="0" anchor="ctr"/>
          <a:lstStyle/>
          <a:p>
            <a:pPr indent="0" marL="0">
              <a:buNone/>
            </a:pPr>
            <a:r>
              <a:rPr lang="en-US" sz="1150" i="1" dirty="0">
                <a:solidFill>
                  <a:schemeClr val="tx2"/>
                </a:solidFill>
              </a:rPr>
              <a:t>Plus a four-card deck per interest and related topics.</a:t>
            </a:r>
            <a:endParaRPr lang="en-US" sz="1150" dirty="0"/>
          </a:p>
        </p:txBody>
      </p:sp>
      <p:sp>
        <p:nvSpPr>
          <p:cNvPr id="7" name="10-card1 frame"/>
          <p:cNvSpPr/>
          <p:nvPr/>
        </p:nvSpPr>
        <p:spPr>
          <a:xfrm>
            <a:off x="3913632" y="1353312"/>
            <a:ext cx="1818139" cy="3785616"/>
          </a:xfrm>
          <a:prstGeom prst="roundRect">
            <a:avLst>
              <a:gd name="adj" fmla="val 11065"/>
            </a:avLst>
          </a:prstGeom>
          <a:solidFill>
            <a:schemeClr val="tx1"/>
          </a:solidFill>
          <a:ln/>
          <a:effectLst>
            <a:outerShdw sx="100000" sy="100000" kx="0" ky="0" algn="bl" rotWithShape="0" blurRad="76200" dist="25400" dir="5400000">
              <a:srgbClr val="141310">
                <a:alpha val="18000"/>
              </a:srgbClr>
            </a:outerShdw>
          </a:effectLst>
        </p:spPr>
      </p:sp>
      <p:pic>
        <p:nvPicPr>
          <p:cNvPr id="8" name="10-card1 screen" descr="/private/tmp/claude-502/-Users-surya-Desktop-Hackathon-Team-cogniv8--F-/77fb1a42-404d-4abc-a9b4-2d62a58e4298/scratchpad/deck/img/10-card1.jpg">    </p:cNvPr>
          <p:cNvPicPr>
            <a:picLocks noChangeAspect="1"/>
          </p:cNvPicPr>
          <p:nvPr/>
        </p:nvPicPr>
        <p:blipFill>
          <a:blip r:embed="rId1"/>
          <a:stretch>
            <a:fillRect/>
          </a:stretch>
        </p:blipFill>
        <p:spPr>
          <a:xfrm>
            <a:off x="3977640" y="1417320"/>
            <a:ext cx="1690123" cy="3657600"/>
          </a:xfrm>
          <a:prstGeom prst="rect">
            <a:avLst/>
          </a:prstGeom>
        </p:spPr>
      </p:pic>
      <p:sp>
        <p:nvSpPr>
          <p:cNvPr id="9" name="10-card1 caption"/>
          <p:cNvSpPr txBox="1"/>
          <p:nvPr/>
        </p:nvSpPr>
        <p:spPr>
          <a:xfrm>
            <a:off x="3872540" y="5212080"/>
            <a:ext cx="1900324" cy="457200"/>
          </a:xfrm>
          <a:prstGeom prst="rect">
            <a:avLst/>
          </a:prstGeom>
          <a:noFill/>
          <a:ln/>
        </p:spPr>
        <p:txBody>
          <a:bodyPr wrap="square" lIns="0" tIns="0" rIns="0" bIns="0" rtlCol="0" anchor="t"/>
          <a:lstStyle/>
          <a:p>
            <a:pPr algn="ctr" indent="0" marL="0">
              <a:buNone/>
            </a:pPr>
            <a:r>
              <a:rPr lang="en-US" sz="1200" dirty="0">
                <a:solidFill>
                  <a:schemeClr val="tx2"/>
                </a:solidFill>
              </a:rPr>
              <a:t>The hook</a:t>
            </a:r>
            <a:endParaRPr lang="en-US" sz="1200" dirty="0"/>
          </a:p>
        </p:txBody>
      </p:sp>
      <p:sp>
        <p:nvSpPr>
          <p:cNvPr id="10" name="12-card3 frame"/>
          <p:cNvSpPr/>
          <p:nvPr/>
        </p:nvSpPr>
        <p:spPr>
          <a:xfrm>
            <a:off x="5905396" y="1353312"/>
            <a:ext cx="1818139" cy="3785616"/>
          </a:xfrm>
          <a:prstGeom prst="roundRect">
            <a:avLst>
              <a:gd name="adj" fmla="val 11065"/>
            </a:avLst>
          </a:prstGeom>
          <a:solidFill>
            <a:schemeClr val="tx1"/>
          </a:solidFill>
          <a:ln/>
          <a:effectLst>
            <a:outerShdw sx="100000" sy="100000" kx="0" ky="0" algn="bl" rotWithShape="0" blurRad="76200" dist="25400" dir="5400000">
              <a:srgbClr val="141310">
                <a:alpha val="18000"/>
              </a:srgbClr>
            </a:outerShdw>
          </a:effectLst>
        </p:spPr>
      </p:sp>
      <p:pic>
        <p:nvPicPr>
          <p:cNvPr id="11" name="12-card3 screen" descr="/private/tmp/claude-502/-Users-surya-Desktop-Hackathon-Team-cogniv8--F-/77fb1a42-404d-4abc-a9b4-2d62a58e4298/scratchpad/deck/img/12-card3.jpg">    </p:cNvPr>
          <p:cNvPicPr>
            <a:picLocks noChangeAspect="1"/>
          </p:cNvPicPr>
          <p:nvPr/>
        </p:nvPicPr>
        <p:blipFill>
          <a:blip r:embed="rId2"/>
          <a:stretch>
            <a:fillRect/>
          </a:stretch>
        </p:blipFill>
        <p:spPr>
          <a:xfrm>
            <a:off x="5969404" y="1417320"/>
            <a:ext cx="1690123" cy="3657600"/>
          </a:xfrm>
          <a:prstGeom prst="rect">
            <a:avLst/>
          </a:prstGeom>
        </p:spPr>
      </p:pic>
      <p:sp>
        <p:nvSpPr>
          <p:cNvPr id="12" name="12-card3 caption"/>
          <p:cNvSpPr txBox="1"/>
          <p:nvPr/>
        </p:nvSpPr>
        <p:spPr>
          <a:xfrm>
            <a:off x="5864304" y="5212080"/>
            <a:ext cx="1900324" cy="457200"/>
          </a:xfrm>
          <a:prstGeom prst="rect">
            <a:avLst/>
          </a:prstGeom>
          <a:noFill/>
          <a:ln/>
        </p:spPr>
        <p:txBody>
          <a:bodyPr wrap="square" lIns="0" tIns="0" rIns="0" bIns="0" rtlCol="0" anchor="t"/>
          <a:lstStyle/>
          <a:p>
            <a:pPr algn="ctr" indent="0" marL="0">
              <a:buNone/>
            </a:pPr>
            <a:r>
              <a:rPr lang="en-US" sz="1200" dirty="0">
                <a:solidFill>
                  <a:schemeClr val="tx2"/>
                </a:solidFill>
              </a:rPr>
              <a:t>Why it matters to you</a:t>
            </a:r>
            <a:endParaRPr lang="en-US" sz="1200" dirty="0"/>
          </a:p>
        </p:txBody>
      </p:sp>
      <p:sp>
        <p:nvSpPr>
          <p:cNvPr id="13" name="14-card5 frame"/>
          <p:cNvSpPr/>
          <p:nvPr/>
        </p:nvSpPr>
        <p:spPr>
          <a:xfrm>
            <a:off x="7897160" y="1353312"/>
            <a:ext cx="1818139" cy="3785616"/>
          </a:xfrm>
          <a:prstGeom prst="roundRect">
            <a:avLst>
              <a:gd name="adj" fmla="val 11065"/>
            </a:avLst>
          </a:prstGeom>
          <a:solidFill>
            <a:schemeClr val="tx1"/>
          </a:solidFill>
          <a:ln/>
          <a:effectLst>
            <a:outerShdw sx="100000" sy="100000" kx="0" ky="0" algn="bl" rotWithShape="0" blurRad="76200" dist="25400" dir="5400000">
              <a:srgbClr val="141310">
                <a:alpha val="18000"/>
              </a:srgbClr>
            </a:outerShdw>
          </a:effectLst>
        </p:spPr>
      </p:sp>
      <p:pic>
        <p:nvPicPr>
          <p:cNvPr id="14" name="14-card5 screen" descr="/private/tmp/claude-502/-Users-surya-Desktop-Hackathon-Team-cogniv8--F-/77fb1a42-404d-4abc-a9b4-2d62a58e4298/scratchpad/deck/img/14-card5.jpg">    </p:cNvPr>
          <p:cNvPicPr>
            <a:picLocks noChangeAspect="1"/>
          </p:cNvPicPr>
          <p:nvPr/>
        </p:nvPicPr>
        <p:blipFill>
          <a:blip r:embed="rId3"/>
          <a:stretch>
            <a:fillRect/>
          </a:stretch>
        </p:blipFill>
        <p:spPr>
          <a:xfrm>
            <a:off x="7961168" y="1417320"/>
            <a:ext cx="1690123" cy="3657600"/>
          </a:xfrm>
          <a:prstGeom prst="rect">
            <a:avLst/>
          </a:prstGeom>
        </p:spPr>
      </p:pic>
      <p:sp>
        <p:nvSpPr>
          <p:cNvPr id="15" name="14-card5 caption"/>
          <p:cNvSpPr txBox="1"/>
          <p:nvPr/>
        </p:nvSpPr>
        <p:spPr>
          <a:xfrm>
            <a:off x="7856068" y="5212080"/>
            <a:ext cx="1900324" cy="457200"/>
          </a:xfrm>
          <a:prstGeom prst="rect">
            <a:avLst/>
          </a:prstGeom>
          <a:noFill/>
          <a:ln/>
        </p:spPr>
        <p:txBody>
          <a:bodyPr wrap="square" lIns="0" tIns="0" rIns="0" bIns="0" rtlCol="0" anchor="t"/>
          <a:lstStyle/>
          <a:p>
            <a:pPr algn="ctr" indent="0" marL="0">
              <a:buNone/>
            </a:pPr>
            <a:r>
              <a:rPr lang="en-US" sz="1200" dirty="0">
                <a:solidFill>
                  <a:schemeClr val="tx2"/>
                </a:solidFill>
              </a:rPr>
              <a:t>Explain it three ways</a:t>
            </a:r>
            <a:endParaRPr lang="en-US" sz="1200" dirty="0"/>
          </a:p>
        </p:txBody>
      </p:sp>
      <p:sp>
        <p:nvSpPr>
          <p:cNvPr id="16" name="15-card6 frame"/>
          <p:cNvSpPr/>
          <p:nvPr/>
        </p:nvSpPr>
        <p:spPr>
          <a:xfrm>
            <a:off x="9888924" y="1353312"/>
            <a:ext cx="1818139" cy="3785616"/>
          </a:xfrm>
          <a:prstGeom prst="roundRect">
            <a:avLst>
              <a:gd name="adj" fmla="val 11065"/>
            </a:avLst>
          </a:prstGeom>
          <a:solidFill>
            <a:schemeClr val="tx1"/>
          </a:solidFill>
          <a:ln/>
          <a:effectLst>
            <a:outerShdw sx="100000" sy="100000" kx="0" ky="0" algn="bl" rotWithShape="0" blurRad="76200" dist="25400" dir="5400000">
              <a:srgbClr val="141310">
                <a:alpha val="18000"/>
              </a:srgbClr>
            </a:outerShdw>
          </a:effectLst>
        </p:spPr>
      </p:sp>
      <p:pic>
        <p:nvPicPr>
          <p:cNvPr id="17" name="15-card6 screen" descr="/private/tmp/claude-502/-Users-surya-Desktop-Hackathon-Team-cogniv8--F-/77fb1a42-404d-4abc-a9b4-2d62a58e4298/scratchpad/deck/img/15-card6.jpg">    </p:cNvPr>
          <p:cNvPicPr>
            <a:picLocks noChangeAspect="1"/>
          </p:cNvPicPr>
          <p:nvPr/>
        </p:nvPicPr>
        <p:blipFill>
          <a:blip r:embed="rId4"/>
          <a:stretch>
            <a:fillRect/>
          </a:stretch>
        </p:blipFill>
        <p:spPr>
          <a:xfrm>
            <a:off x="9952932" y="1417320"/>
            <a:ext cx="1690123" cy="3657600"/>
          </a:xfrm>
          <a:prstGeom prst="rect">
            <a:avLst/>
          </a:prstGeom>
        </p:spPr>
      </p:pic>
      <p:sp>
        <p:nvSpPr>
          <p:cNvPr id="18" name="15-card6 caption"/>
          <p:cNvSpPr txBox="1"/>
          <p:nvPr/>
        </p:nvSpPr>
        <p:spPr>
          <a:xfrm>
            <a:off x="9847832" y="5212080"/>
            <a:ext cx="1900324" cy="457200"/>
          </a:xfrm>
          <a:prstGeom prst="rect">
            <a:avLst/>
          </a:prstGeom>
          <a:noFill/>
          <a:ln/>
        </p:spPr>
        <p:txBody>
          <a:bodyPr wrap="square" lIns="0" tIns="0" rIns="0" bIns="0" rtlCol="0" anchor="t"/>
          <a:lstStyle/>
          <a:p>
            <a:pPr algn="ctr" indent="0" marL="0">
              <a:buNone/>
            </a:pPr>
            <a:r>
              <a:rPr lang="en-US" sz="1200" dirty="0">
                <a:solidFill>
                  <a:schemeClr val="tx2"/>
                </a:solidFill>
              </a:rPr>
              <a:t>This vs that</a:t>
            </a:r>
            <a:endParaRPr lang="en-US" sz="1200" dirty="0"/>
          </a:p>
        </p:txBody>
      </p:sp>
      <p:sp>
        <p:nvSpPr>
          <p:cNvPr id="19" name="chip Contents"/>
          <p:cNvSpPr/>
          <p:nvPr/>
        </p:nvSpPr>
        <p:spPr>
          <a:xfrm>
            <a:off x="10058400" y="6355080"/>
            <a:ext cx="1097280" cy="329184"/>
          </a:xfrm>
          <a:prstGeom prst="roundRect">
            <a:avLst>
              <a:gd name="adj" fmla="val 33333"/>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20" name="chip Contents label">
            <a:hlinkClick r:id="rId5" tooltip="Back to the contents" action="ppaction://hlinksldjump"/>
          </p:cNvPr>
          <p:cNvSpPr txBox="1"/>
          <p:nvPr/>
        </p:nvSpPr>
        <p:spPr>
          <a:xfrm>
            <a:off x="10058400" y="6355080"/>
            <a:ext cx="1097280" cy="329184"/>
          </a:xfrm>
          <a:prstGeom prst="rect">
            <a:avLst/>
          </a:prstGeom>
          <a:noFill/>
          <a:ln/>
        </p:spPr>
        <p:txBody>
          <a:bodyPr wrap="square" lIns="0" tIns="0" rIns="0" bIns="0" rtlCol="0" anchor="ctr"/>
          <a:lstStyle/>
          <a:p>
            <a:pPr algn="ctr" indent="0" marL="0">
              <a:buNone/>
            </a:pPr>
            <a:r>
              <a:rPr lang="en-US" sz="1000" b="1" u="sng" dirty="0">
                <a:solidFill>
                  <a:schemeClr val="tx1"/>
                </a:solidFill>
                <a:hlinkClick r:id="rId5" action="ppaction://hlinksldjump" tooltip="Back to the contents">
                  <a:extLst>
                    <a:ext uri="{A12FA001-AC4F-418D-AE19-62706E023703}">
                      <ahyp:hlinkClr xmlns:ahyp="http://schemas.microsoft.com/office/drawing/2018/hyperlinkcolor" val="tx"/>
                    </a:ext>
                  </a:extLst>
                </a:hlinkClick>
              </a:rPr>
              <a:t>Contents</a:t>
            </a:r>
            <a:endParaRPr lang="en-US" sz="10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058400" cy="822960"/>
          </a:xfrm>
          <a:prstGeom prst="rect">
            <a:avLst/>
          </a:prstGeom>
          <a:noFill/>
          <a:ln/>
        </p:spPr>
        <p:txBody>
          <a:bodyPr wrap="square" lIns="0" tIns="0" rIns="0" bIns="0" rtlCol="0" anchor="ctr"/>
          <a:lstStyle/>
          <a:p>
            <a:pPr algn="l" indent="0" marL="0">
              <a:buNone/>
            </a:pPr>
            <a:r>
              <a:rPr lang="en-US" sz="3000" b="1" dirty="0">
                <a:solidFill>
                  <a:schemeClr val="tx1"/>
                </a:solidFill>
              </a:rPr>
              <a:t>Make it stick: quiz, teach it back, read the sources</a:t>
            </a:r>
            <a:endParaRPr lang="en-US" sz="3000" dirty="0"/>
          </a:p>
        </p:txBody>
      </p:sp>
      <p:sp>
        <p:nvSpPr>
          <p:cNvPr id="3" name="17-card8 frame"/>
          <p:cNvSpPr/>
          <p:nvPr/>
        </p:nvSpPr>
        <p:spPr>
          <a:xfrm>
            <a:off x="484632" y="1353312"/>
            <a:ext cx="1944898" cy="4059936"/>
          </a:xfrm>
          <a:prstGeom prst="roundRect">
            <a:avLst>
              <a:gd name="adj" fmla="val 10343"/>
            </a:avLst>
          </a:prstGeom>
          <a:solidFill>
            <a:schemeClr val="tx1"/>
          </a:solidFill>
          <a:ln/>
          <a:effectLst>
            <a:outerShdw sx="100000" sy="100000" kx="0" ky="0" algn="bl" rotWithShape="0" blurRad="76200" dist="25400" dir="5400000">
              <a:srgbClr val="141310">
                <a:alpha val="18000"/>
              </a:srgbClr>
            </a:outerShdw>
          </a:effectLst>
        </p:spPr>
      </p:sp>
      <p:pic>
        <p:nvPicPr>
          <p:cNvPr id="4" name="17-card8 screen" descr="/private/tmp/claude-502/-Users-surya-Desktop-Hackathon-Team-cogniv8--F-/77fb1a42-404d-4abc-a9b4-2d62a58e4298/scratchpad/deck/img/17-card8.jpg">    </p:cNvPr>
          <p:cNvPicPr>
            <a:picLocks noChangeAspect="1"/>
          </p:cNvPicPr>
          <p:nvPr/>
        </p:nvPicPr>
        <p:blipFill>
          <a:blip r:embed="rId1"/>
          <a:stretch>
            <a:fillRect/>
          </a:stretch>
        </p:blipFill>
        <p:spPr>
          <a:xfrm>
            <a:off x="548640" y="1417320"/>
            <a:ext cx="1816882" cy="3931920"/>
          </a:xfrm>
          <a:prstGeom prst="rect">
            <a:avLst/>
          </a:prstGeom>
        </p:spPr>
      </p:pic>
      <p:sp>
        <p:nvSpPr>
          <p:cNvPr id="5" name="17-card8 caption"/>
          <p:cNvSpPr txBox="1"/>
          <p:nvPr/>
        </p:nvSpPr>
        <p:spPr>
          <a:xfrm>
            <a:off x="274320" y="5486400"/>
            <a:ext cx="2365522" cy="457200"/>
          </a:xfrm>
          <a:prstGeom prst="rect">
            <a:avLst/>
          </a:prstGeom>
          <a:noFill/>
          <a:ln/>
        </p:spPr>
        <p:txBody>
          <a:bodyPr wrap="square" lIns="0" tIns="0" rIns="0" bIns="0" rtlCol="0" anchor="t"/>
          <a:lstStyle/>
          <a:p>
            <a:pPr algn="ctr" indent="0" marL="0">
              <a:buNone/>
            </a:pPr>
            <a:r>
              <a:rPr lang="en-US" sz="1200" dirty="0">
                <a:solidFill>
                  <a:schemeClr val="tx2"/>
                </a:solidFill>
              </a:rPr>
              <a:t>The finale offers four ways to lock it in</a:t>
            </a:r>
            <a:endParaRPr lang="en-US" sz="1200" dirty="0"/>
          </a:p>
        </p:txBody>
      </p:sp>
      <p:sp>
        <p:nvSpPr>
          <p:cNvPr id="6" name="24-quiz-picked frame"/>
          <p:cNvSpPr/>
          <p:nvPr/>
        </p:nvSpPr>
        <p:spPr>
          <a:xfrm>
            <a:off x="3577143" y="1353312"/>
            <a:ext cx="1944898" cy="4059936"/>
          </a:xfrm>
          <a:prstGeom prst="roundRect">
            <a:avLst>
              <a:gd name="adj" fmla="val 10343"/>
            </a:avLst>
          </a:prstGeom>
          <a:solidFill>
            <a:schemeClr val="tx1"/>
          </a:solidFill>
          <a:ln/>
          <a:effectLst>
            <a:outerShdw sx="100000" sy="100000" kx="0" ky="0" algn="bl" rotWithShape="0" blurRad="76200" dist="25400" dir="5400000">
              <a:srgbClr val="141310">
                <a:alpha val="18000"/>
              </a:srgbClr>
            </a:outerShdw>
          </a:effectLst>
        </p:spPr>
      </p:sp>
      <p:pic>
        <p:nvPicPr>
          <p:cNvPr id="7" name="24-quiz-picked screen" descr="/private/tmp/claude-502/-Users-surya-Desktop-Hackathon-Team-cogniv8--F-/77fb1a42-404d-4abc-a9b4-2d62a58e4298/scratchpad/deck/img/24-quiz-picked.jpg">    </p:cNvPr>
          <p:cNvPicPr>
            <a:picLocks noChangeAspect="1"/>
          </p:cNvPicPr>
          <p:nvPr/>
        </p:nvPicPr>
        <p:blipFill>
          <a:blip r:embed="rId2"/>
          <a:stretch>
            <a:fillRect/>
          </a:stretch>
        </p:blipFill>
        <p:spPr>
          <a:xfrm>
            <a:off x="3641151" y="1417320"/>
            <a:ext cx="1816882" cy="3931920"/>
          </a:xfrm>
          <a:prstGeom prst="rect">
            <a:avLst/>
          </a:prstGeom>
        </p:spPr>
      </p:pic>
      <p:sp>
        <p:nvSpPr>
          <p:cNvPr id="8" name="24-quiz-picked caption"/>
          <p:cNvSpPr txBox="1"/>
          <p:nvPr/>
        </p:nvSpPr>
        <p:spPr>
          <a:xfrm>
            <a:off x="3366831" y="5486400"/>
            <a:ext cx="2365522" cy="457200"/>
          </a:xfrm>
          <a:prstGeom prst="rect">
            <a:avLst/>
          </a:prstGeom>
          <a:noFill/>
          <a:ln/>
        </p:spPr>
        <p:txBody>
          <a:bodyPr wrap="square" lIns="0" tIns="0" rIns="0" bIns="0" rtlCol="0" anchor="t"/>
          <a:lstStyle/>
          <a:p>
            <a:pPr algn="ctr" indent="0" marL="0">
              <a:buNone/>
            </a:pPr>
            <a:r>
              <a:rPr lang="en-US" sz="1200" dirty="0">
                <a:solidFill>
                  <a:schemeClr val="tx2"/>
                </a:solidFill>
              </a:rPr>
              <a:t>A three-question quiz on the story</a:t>
            </a:r>
            <a:endParaRPr lang="en-US" sz="1200" dirty="0"/>
          </a:p>
        </p:txBody>
      </p:sp>
      <p:sp>
        <p:nvSpPr>
          <p:cNvPr id="9" name="21-teach-marked frame"/>
          <p:cNvSpPr/>
          <p:nvPr/>
        </p:nvSpPr>
        <p:spPr>
          <a:xfrm>
            <a:off x="6669654" y="1353312"/>
            <a:ext cx="1944898" cy="4059936"/>
          </a:xfrm>
          <a:prstGeom prst="roundRect">
            <a:avLst>
              <a:gd name="adj" fmla="val 10343"/>
            </a:avLst>
          </a:prstGeom>
          <a:solidFill>
            <a:schemeClr val="tx1"/>
          </a:solidFill>
          <a:ln/>
          <a:effectLst>
            <a:outerShdw sx="100000" sy="100000" kx="0" ky="0" algn="bl" rotWithShape="0" blurRad="76200" dist="25400" dir="5400000">
              <a:srgbClr val="141310">
                <a:alpha val="18000"/>
              </a:srgbClr>
            </a:outerShdw>
          </a:effectLst>
        </p:spPr>
      </p:sp>
      <p:pic>
        <p:nvPicPr>
          <p:cNvPr id="10" name="21-teach-marked screen" descr="/private/tmp/claude-502/-Users-surya-Desktop-Hackathon-Team-cogniv8--F-/77fb1a42-404d-4abc-a9b4-2d62a58e4298/scratchpad/deck/img/21-teach-marked.jpg">    </p:cNvPr>
          <p:cNvPicPr>
            <a:picLocks noChangeAspect="1"/>
          </p:cNvPicPr>
          <p:nvPr/>
        </p:nvPicPr>
        <p:blipFill>
          <a:blip r:embed="rId3"/>
          <a:stretch>
            <a:fillRect/>
          </a:stretch>
        </p:blipFill>
        <p:spPr>
          <a:xfrm>
            <a:off x="6733662" y="1417320"/>
            <a:ext cx="1816882" cy="3931920"/>
          </a:xfrm>
          <a:prstGeom prst="rect">
            <a:avLst/>
          </a:prstGeom>
        </p:spPr>
      </p:pic>
      <p:sp>
        <p:nvSpPr>
          <p:cNvPr id="11" name="21-teach-marked caption"/>
          <p:cNvSpPr txBox="1"/>
          <p:nvPr/>
        </p:nvSpPr>
        <p:spPr>
          <a:xfrm>
            <a:off x="6459342" y="5486400"/>
            <a:ext cx="2365522" cy="457200"/>
          </a:xfrm>
          <a:prstGeom prst="rect">
            <a:avLst/>
          </a:prstGeom>
          <a:noFill/>
          <a:ln/>
        </p:spPr>
        <p:txBody>
          <a:bodyPr wrap="square" lIns="0" tIns="0" rIns="0" bIns="0" rtlCol="0" anchor="t"/>
          <a:lstStyle/>
          <a:p>
            <a:pPr algn="ctr" indent="0" marL="0">
              <a:buNone/>
            </a:pPr>
            <a:r>
              <a:rPr lang="en-US" sz="1200" dirty="0">
                <a:solidFill>
                  <a:schemeClr val="tx2"/>
                </a:solidFill>
              </a:rPr>
              <a:t>Say it in your own words. CurioX marks it and adds one thing</a:t>
            </a:r>
            <a:endParaRPr lang="en-US" sz="1200" dirty="0"/>
          </a:p>
        </p:txBody>
      </p:sp>
      <p:sp>
        <p:nvSpPr>
          <p:cNvPr id="12" name="22-sources frame"/>
          <p:cNvSpPr/>
          <p:nvPr/>
        </p:nvSpPr>
        <p:spPr>
          <a:xfrm>
            <a:off x="9762165" y="1353312"/>
            <a:ext cx="1944898" cy="4059936"/>
          </a:xfrm>
          <a:prstGeom prst="roundRect">
            <a:avLst>
              <a:gd name="adj" fmla="val 10343"/>
            </a:avLst>
          </a:prstGeom>
          <a:solidFill>
            <a:schemeClr val="tx1"/>
          </a:solidFill>
          <a:ln/>
          <a:effectLst>
            <a:outerShdw sx="100000" sy="100000" kx="0" ky="0" algn="bl" rotWithShape="0" blurRad="76200" dist="25400" dir="5400000">
              <a:srgbClr val="141310">
                <a:alpha val="18000"/>
              </a:srgbClr>
            </a:outerShdw>
          </a:effectLst>
        </p:spPr>
      </p:sp>
      <p:pic>
        <p:nvPicPr>
          <p:cNvPr id="13" name="22-sources screen" descr="/private/tmp/claude-502/-Users-surya-Desktop-Hackathon-Team-cogniv8--F-/77fb1a42-404d-4abc-a9b4-2d62a58e4298/scratchpad/deck/img/22-sources.jpg">    </p:cNvPr>
          <p:cNvPicPr>
            <a:picLocks noChangeAspect="1"/>
          </p:cNvPicPr>
          <p:nvPr/>
        </p:nvPicPr>
        <p:blipFill>
          <a:blip r:embed="rId4"/>
          <a:stretch>
            <a:fillRect/>
          </a:stretch>
        </p:blipFill>
        <p:spPr>
          <a:xfrm>
            <a:off x="9826173" y="1417320"/>
            <a:ext cx="1816882" cy="3931920"/>
          </a:xfrm>
          <a:prstGeom prst="rect">
            <a:avLst/>
          </a:prstGeom>
        </p:spPr>
      </p:pic>
      <p:sp>
        <p:nvSpPr>
          <p:cNvPr id="14" name="22-sources caption"/>
          <p:cNvSpPr txBox="1"/>
          <p:nvPr/>
        </p:nvSpPr>
        <p:spPr>
          <a:xfrm>
            <a:off x="9551853" y="5486400"/>
            <a:ext cx="2365522" cy="457200"/>
          </a:xfrm>
          <a:prstGeom prst="rect">
            <a:avLst/>
          </a:prstGeom>
          <a:noFill/>
          <a:ln/>
        </p:spPr>
        <p:txBody>
          <a:bodyPr wrap="square" lIns="0" tIns="0" rIns="0" bIns="0" rtlCol="0" anchor="t"/>
          <a:lstStyle/>
          <a:p>
            <a:pPr algn="ctr" indent="0" marL="0">
              <a:buNone/>
            </a:pPr>
            <a:r>
              <a:rPr lang="en-US" sz="1200" dirty="0">
                <a:solidFill>
                  <a:schemeClr val="tx2"/>
                </a:solidFill>
              </a:rPr>
              <a:t>Numbered sources, pin any of them</a:t>
            </a:r>
            <a:endParaRPr lang="en-US" sz="1200" dirty="0"/>
          </a:p>
        </p:txBody>
      </p:sp>
      <p:sp>
        <p:nvSpPr>
          <p:cNvPr id="15" name="chip Contents"/>
          <p:cNvSpPr/>
          <p:nvPr/>
        </p:nvSpPr>
        <p:spPr>
          <a:xfrm>
            <a:off x="10058400" y="6355080"/>
            <a:ext cx="1097280" cy="329184"/>
          </a:xfrm>
          <a:prstGeom prst="roundRect">
            <a:avLst>
              <a:gd name="adj" fmla="val 33333"/>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16" name="chip Contents label">
            <a:hlinkClick r:id="rId5" tooltip="Back to the contents" action="ppaction://hlinksldjump"/>
          </p:cNvPr>
          <p:cNvSpPr txBox="1"/>
          <p:nvPr/>
        </p:nvSpPr>
        <p:spPr>
          <a:xfrm>
            <a:off x="10058400" y="6355080"/>
            <a:ext cx="1097280" cy="329184"/>
          </a:xfrm>
          <a:prstGeom prst="rect">
            <a:avLst/>
          </a:prstGeom>
          <a:noFill/>
          <a:ln/>
        </p:spPr>
        <p:txBody>
          <a:bodyPr wrap="square" lIns="0" tIns="0" rIns="0" bIns="0" rtlCol="0" anchor="ctr"/>
          <a:lstStyle/>
          <a:p>
            <a:pPr algn="ctr" indent="0" marL="0">
              <a:buNone/>
            </a:pPr>
            <a:r>
              <a:rPr lang="en-US" sz="1000" b="1" u="sng" dirty="0">
                <a:solidFill>
                  <a:schemeClr val="tx1"/>
                </a:solidFill>
                <a:hlinkClick r:id="rId5" action="ppaction://hlinksldjump" tooltip="Back to the contents">
                  <a:extLst>
                    <a:ext uri="{A12FA001-AC4F-418D-AE19-62706E023703}">
                      <ahyp:hlinkClr xmlns:ahyp="http://schemas.microsoft.com/office/drawing/2018/hyperlinkcolor" val="tx"/>
                    </a:ext>
                  </a:extLst>
                </a:hlinkClick>
              </a:rPr>
              <a:t>Contents</a:t>
            </a:r>
            <a:endParaRPr lang="en-US" sz="10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058400" cy="822960"/>
          </a:xfrm>
          <a:prstGeom prst="rect">
            <a:avLst/>
          </a:prstGeom>
          <a:noFill/>
          <a:ln/>
        </p:spPr>
        <p:txBody>
          <a:bodyPr wrap="square" lIns="0" tIns="0" rIns="0" bIns="0" rtlCol="0" anchor="ctr"/>
          <a:lstStyle/>
          <a:p>
            <a:pPr algn="l" indent="0" marL="0">
              <a:buNone/>
            </a:pPr>
            <a:r>
              <a:rPr lang="en-US" sz="3000" b="1" dirty="0">
                <a:solidFill>
                  <a:schemeClr val="tx1"/>
                </a:solidFill>
              </a:rPr>
              <a:t>Talk: the hands-free way to learn</a:t>
            </a:r>
            <a:endParaRPr lang="en-US" sz="3000" dirty="0"/>
          </a:p>
        </p:txBody>
      </p:sp>
      <p:sp>
        <p:nvSpPr>
          <p:cNvPr id="3" name="30-talk frame"/>
          <p:cNvSpPr/>
          <p:nvPr/>
        </p:nvSpPr>
        <p:spPr>
          <a:xfrm>
            <a:off x="758952" y="1307592"/>
            <a:ext cx="2177290" cy="4562856"/>
          </a:xfrm>
          <a:prstGeom prst="roundRect">
            <a:avLst>
              <a:gd name="adj" fmla="val 9239"/>
            </a:avLst>
          </a:prstGeom>
          <a:solidFill>
            <a:schemeClr val="tx1"/>
          </a:solidFill>
          <a:ln/>
          <a:effectLst>
            <a:outerShdw sx="100000" sy="100000" kx="0" ky="0" algn="bl" rotWithShape="0" blurRad="76200" dist="25400" dir="5400000">
              <a:srgbClr val="141310">
                <a:alpha val="18000"/>
              </a:srgbClr>
            </a:outerShdw>
          </a:effectLst>
        </p:spPr>
      </p:sp>
      <p:pic>
        <p:nvPicPr>
          <p:cNvPr id="4" name="30-talk screen" descr="/private/tmp/claude-502/-Users-surya-Desktop-Hackathon-Team-cogniv8--F-/77fb1a42-404d-4abc-a9b4-2d62a58e4298/scratchpad/deck/img/30-talk.jpg">    </p:cNvPr>
          <p:cNvPicPr>
            <a:picLocks noChangeAspect="1"/>
          </p:cNvPicPr>
          <p:nvPr/>
        </p:nvPicPr>
        <p:blipFill>
          <a:blip r:embed="rId1"/>
          <a:stretch>
            <a:fillRect/>
          </a:stretch>
        </p:blipFill>
        <p:spPr>
          <a:xfrm>
            <a:off x="822960" y="1371600"/>
            <a:ext cx="2049274" cy="4434840"/>
          </a:xfrm>
          <a:prstGeom prst="rect">
            <a:avLst/>
          </a:prstGeom>
        </p:spPr>
      </p:pic>
      <p:sp>
        <p:nvSpPr>
          <p:cNvPr id="5" name="30-talk caption"/>
          <p:cNvSpPr txBox="1"/>
          <p:nvPr/>
        </p:nvSpPr>
        <p:spPr>
          <a:xfrm>
            <a:off x="548640" y="5943600"/>
            <a:ext cx="2597914" cy="457200"/>
          </a:xfrm>
          <a:prstGeom prst="rect">
            <a:avLst/>
          </a:prstGeom>
          <a:noFill/>
          <a:ln/>
        </p:spPr>
        <p:txBody>
          <a:bodyPr wrap="square" lIns="0" tIns="0" rIns="0" bIns="0" rtlCol="0" anchor="t"/>
          <a:lstStyle/>
          <a:p>
            <a:pPr algn="ctr" indent="0" marL="0">
              <a:buNone/>
            </a:pPr>
            <a:r>
              <a:rPr lang="en-US" sz="1200" dirty="0">
                <a:solidFill>
                  <a:schemeClr val="tx2"/>
                </a:solidFill>
              </a:rPr>
              <a:t>Pick a voice: Friendly, Casual or Playful</a:t>
            </a:r>
            <a:endParaRPr lang="en-US" sz="1200" dirty="0"/>
          </a:p>
        </p:txBody>
      </p:sp>
      <p:sp>
        <p:nvSpPr>
          <p:cNvPr id="6" name="stamp 1"/>
          <p:cNvSpPr/>
          <p:nvPr/>
        </p:nvSpPr>
        <p:spPr>
          <a:xfrm>
            <a:off x="3931920" y="1417320"/>
            <a:ext cx="457200" cy="457200"/>
          </a:xfrm>
          <a:prstGeom prst="ellipse">
            <a:avLst/>
          </a:prstGeom>
          <a:solidFill>
            <a:schemeClr val="tx1"/>
          </a:solidFill>
          <a:ln w="12700">
            <a:solidFill>
              <a:schemeClr val="tx1"/>
            </a:solidFill>
            <a:prstDash val="solid"/>
          </a:ln>
        </p:spPr>
      </p:sp>
      <p:sp>
        <p:nvSpPr>
          <p:cNvPr id="7" name="stamp 1 label"/>
          <p:cNvSpPr txBox="1"/>
          <p:nvPr/>
        </p:nvSpPr>
        <p:spPr>
          <a:xfrm>
            <a:off x="3931920" y="1417320"/>
            <a:ext cx="457200" cy="457200"/>
          </a:xfrm>
          <a:prstGeom prst="rect">
            <a:avLst/>
          </a:prstGeom>
          <a:noFill/>
          <a:ln/>
        </p:spPr>
        <p:txBody>
          <a:bodyPr wrap="square" lIns="0" tIns="0" rIns="0" bIns="0" rtlCol="0" anchor="ctr"/>
          <a:lstStyle/>
          <a:p>
            <a:pPr algn="ctr" indent="0" marL="0">
              <a:buNone/>
            </a:pPr>
            <a:r>
              <a:rPr lang="en-US" sz="1300" b="1" dirty="0">
                <a:solidFill>
                  <a:schemeClr val="bg2"/>
                </a:solidFill>
              </a:rPr>
              <a:t>1</a:t>
            </a:r>
            <a:endParaRPr lang="en-US" sz="1300" dirty="0"/>
          </a:p>
        </p:txBody>
      </p:sp>
      <p:sp>
        <p:nvSpPr>
          <p:cNvPr id="8" name="talk step 1"/>
          <p:cNvSpPr txBox="1"/>
          <p:nvPr/>
        </p:nvSpPr>
        <p:spPr>
          <a:xfrm>
            <a:off x="4572000" y="1417320"/>
            <a:ext cx="4206240" cy="457200"/>
          </a:xfrm>
          <a:prstGeom prst="rect">
            <a:avLst/>
          </a:prstGeom>
          <a:noFill/>
          <a:ln/>
        </p:spPr>
        <p:txBody>
          <a:bodyPr wrap="square" lIns="0" tIns="0" rIns="0" bIns="0" rtlCol="0" anchor="ctr"/>
          <a:lstStyle/>
          <a:p>
            <a:pPr indent="0" marL="0">
              <a:buNone/>
            </a:pPr>
            <a:r>
              <a:rPr lang="en-US" sz="1400" dirty="0">
                <a:solidFill>
                  <a:schemeClr val="tx1"/>
                </a:solidFill>
              </a:rPr>
              <a:t>Says hello and tells you what is new today</a:t>
            </a:r>
            <a:endParaRPr lang="en-US" sz="1400" dirty="0"/>
          </a:p>
        </p:txBody>
      </p:sp>
      <p:sp>
        <p:nvSpPr>
          <p:cNvPr id="9" name="stamp 2"/>
          <p:cNvSpPr/>
          <p:nvPr/>
        </p:nvSpPr>
        <p:spPr>
          <a:xfrm>
            <a:off x="3931920" y="2075688"/>
            <a:ext cx="457200" cy="457200"/>
          </a:xfrm>
          <a:prstGeom prst="ellipse">
            <a:avLst/>
          </a:prstGeom>
          <a:solidFill>
            <a:schemeClr val="tx1"/>
          </a:solidFill>
          <a:ln w="12700">
            <a:solidFill>
              <a:schemeClr val="tx1"/>
            </a:solidFill>
            <a:prstDash val="solid"/>
          </a:ln>
        </p:spPr>
      </p:sp>
      <p:sp>
        <p:nvSpPr>
          <p:cNvPr id="10" name="stamp 2 label"/>
          <p:cNvSpPr txBox="1"/>
          <p:nvPr/>
        </p:nvSpPr>
        <p:spPr>
          <a:xfrm>
            <a:off x="3931920" y="2075688"/>
            <a:ext cx="457200" cy="457200"/>
          </a:xfrm>
          <a:prstGeom prst="rect">
            <a:avLst/>
          </a:prstGeom>
          <a:noFill/>
          <a:ln/>
        </p:spPr>
        <p:txBody>
          <a:bodyPr wrap="square" lIns="0" tIns="0" rIns="0" bIns="0" rtlCol="0" anchor="ctr"/>
          <a:lstStyle/>
          <a:p>
            <a:pPr algn="ctr" indent="0" marL="0">
              <a:buNone/>
            </a:pPr>
            <a:r>
              <a:rPr lang="en-US" sz="1300" b="1" dirty="0">
                <a:solidFill>
                  <a:schemeClr val="bg2"/>
                </a:solidFill>
              </a:rPr>
              <a:t>2</a:t>
            </a:r>
            <a:endParaRPr lang="en-US" sz="1300" dirty="0"/>
          </a:p>
        </p:txBody>
      </p:sp>
      <p:sp>
        <p:nvSpPr>
          <p:cNvPr id="11" name="talk step 2"/>
          <p:cNvSpPr txBox="1"/>
          <p:nvPr/>
        </p:nvSpPr>
        <p:spPr>
          <a:xfrm>
            <a:off x="4572000" y="2075688"/>
            <a:ext cx="4206240" cy="457200"/>
          </a:xfrm>
          <a:prstGeom prst="rect">
            <a:avLst/>
          </a:prstGeom>
          <a:noFill/>
          <a:ln/>
        </p:spPr>
        <p:txBody>
          <a:bodyPr wrap="square" lIns="0" tIns="0" rIns="0" bIns="0" rtlCol="0" anchor="ctr"/>
          <a:lstStyle/>
          <a:p>
            <a:pPr indent="0" marL="0">
              <a:buNone/>
            </a:pPr>
            <a:r>
              <a:rPr lang="en-US" sz="1400" dirty="0">
                <a:solidFill>
                  <a:schemeClr val="tx1"/>
                </a:solidFill>
              </a:rPr>
              <a:t>Asks what you want to learn about</a:t>
            </a:r>
            <a:endParaRPr lang="en-US" sz="1400" dirty="0"/>
          </a:p>
        </p:txBody>
      </p:sp>
      <p:sp>
        <p:nvSpPr>
          <p:cNvPr id="12" name="stamp 3"/>
          <p:cNvSpPr/>
          <p:nvPr/>
        </p:nvSpPr>
        <p:spPr>
          <a:xfrm>
            <a:off x="3931920" y="2734056"/>
            <a:ext cx="457200" cy="457200"/>
          </a:xfrm>
          <a:prstGeom prst="ellipse">
            <a:avLst/>
          </a:prstGeom>
          <a:solidFill>
            <a:schemeClr val="tx1"/>
          </a:solidFill>
          <a:ln w="12700">
            <a:solidFill>
              <a:schemeClr val="tx1"/>
            </a:solidFill>
            <a:prstDash val="solid"/>
          </a:ln>
        </p:spPr>
      </p:sp>
      <p:sp>
        <p:nvSpPr>
          <p:cNvPr id="13" name="stamp 3 label"/>
          <p:cNvSpPr txBox="1"/>
          <p:nvPr/>
        </p:nvSpPr>
        <p:spPr>
          <a:xfrm>
            <a:off x="3931920" y="2734056"/>
            <a:ext cx="457200" cy="457200"/>
          </a:xfrm>
          <a:prstGeom prst="rect">
            <a:avLst/>
          </a:prstGeom>
          <a:noFill/>
          <a:ln/>
        </p:spPr>
        <p:txBody>
          <a:bodyPr wrap="square" lIns="0" tIns="0" rIns="0" bIns="0" rtlCol="0" anchor="ctr"/>
          <a:lstStyle/>
          <a:p>
            <a:pPr algn="ctr" indent="0" marL="0">
              <a:buNone/>
            </a:pPr>
            <a:r>
              <a:rPr lang="en-US" sz="1300" b="1" dirty="0">
                <a:solidFill>
                  <a:schemeClr val="bg2"/>
                </a:solidFill>
              </a:rPr>
              <a:t>3</a:t>
            </a:r>
            <a:endParaRPr lang="en-US" sz="1300" dirty="0"/>
          </a:p>
        </p:txBody>
      </p:sp>
      <p:sp>
        <p:nvSpPr>
          <p:cNvPr id="14" name="talk step 3"/>
          <p:cNvSpPr txBox="1"/>
          <p:nvPr/>
        </p:nvSpPr>
        <p:spPr>
          <a:xfrm>
            <a:off x="4572000" y="2734056"/>
            <a:ext cx="4206240" cy="457200"/>
          </a:xfrm>
          <a:prstGeom prst="rect">
            <a:avLst/>
          </a:prstGeom>
          <a:noFill/>
          <a:ln/>
        </p:spPr>
        <p:txBody>
          <a:bodyPr wrap="square" lIns="0" tIns="0" rIns="0" bIns="0" rtlCol="0" anchor="ctr"/>
          <a:lstStyle/>
          <a:p>
            <a:pPr indent="0" marL="0">
              <a:buNone/>
            </a:pPr>
            <a:r>
              <a:rPr lang="en-US" sz="1400" dirty="0">
                <a:solidFill>
                  <a:schemeClr val="tx1"/>
                </a:solidFill>
              </a:rPr>
              <a:t>Explains it, then asks your view</a:t>
            </a:r>
            <a:endParaRPr lang="en-US" sz="1400" dirty="0"/>
          </a:p>
        </p:txBody>
      </p:sp>
      <p:sp>
        <p:nvSpPr>
          <p:cNvPr id="15" name="stamp 4"/>
          <p:cNvSpPr/>
          <p:nvPr/>
        </p:nvSpPr>
        <p:spPr>
          <a:xfrm>
            <a:off x="3931920" y="3392424"/>
            <a:ext cx="457200" cy="457200"/>
          </a:xfrm>
          <a:prstGeom prst="ellipse">
            <a:avLst/>
          </a:prstGeom>
          <a:solidFill>
            <a:schemeClr val="tx1"/>
          </a:solidFill>
          <a:ln w="12700">
            <a:solidFill>
              <a:schemeClr val="tx1"/>
            </a:solidFill>
            <a:prstDash val="solid"/>
          </a:ln>
        </p:spPr>
      </p:sp>
      <p:sp>
        <p:nvSpPr>
          <p:cNvPr id="16" name="stamp 4 label"/>
          <p:cNvSpPr txBox="1"/>
          <p:nvPr/>
        </p:nvSpPr>
        <p:spPr>
          <a:xfrm>
            <a:off x="3931920" y="3392424"/>
            <a:ext cx="457200" cy="457200"/>
          </a:xfrm>
          <a:prstGeom prst="rect">
            <a:avLst/>
          </a:prstGeom>
          <a:noFill/>
          <a:ln/>
        </p:spPr>
        <p:txBody>
          <a:bodyPr wrap="square" lIns="0" tIns="0" rIns="0" bIns="0" rtlCol="0" anchor="ctr"/>
          <a:lstStyle/>
          <a:p>
            <a:pPr algn="ctr" indent="0" marL="0">
              <a:buNone/>
            </a:pPr>
            <a:r>
              <a:rPr lang="en-US" sz="1300" b="1" dirty="0">
                <a:solidFill>
                  <a:schemeClr val="bg2"/>
                </a:solidFill>
              </a:rPr>
              <a:t>4</a:t>
            </a:r>
            <a:endParaRPr lang="en-US" sz="1300" dirty="0"/>
          </a:p>
        </p:txBody>
      </p:sp>
      <p:sp>
        <p:nvSpPr>
          <p:cNvPr id="17" name="talk step 4"/>
          <p:cNvSpPr txBox="1"/>
          <p:nvPr/>
        </p:nvSpPr>
        <p:spPr>
          <a:xfrm>
            <a:off x="4572000" y="3392424"/>
            <a:ext cx="4206240" cy="457200"/>
          </a:xfrm>
          <a:prstGeom prst="rect">
            <a:avLst/>
          </a:prstGeom>
          <a:noFill/>
          <a:ln/>
        </p:spPr>
        <p:txBody>
          <a:bodyPr wrap="square" lIns="0" tIns="0" rIns="0" bIns="0" rtlCol="0" anchor="ctr"/>
          <a:lstStyle/>
          <a:p>
            <a:pPr indent="0" marL="0">
              <a:buNone/>
            </a:pPr>
            <a:r>
              <a:rPr lang="en-US" sz="1400" dirty="0">
                <a:solidFill>
                  <a:schemeClr val="tx1"/>
                </a:solidFill>
              </a:rPr>
              <a:t>Explains the impact, asks what you make of it</a:t>
            </a:r>
            <a:endParaRPr lang="en-US" sz="1400" dirty="0"/>
          </a:p>
        </p:txBody>
      </p:sp>
      <p:sp>
        <p:nvSpPr>
          <p:cNvPr id="18" name="stamp 5"/>
          <p:cNvSpPr/>
          <p:nvPr/>
        </p:nvSpPr>
        <p:spPr>
          <a:xfrm>
            <a:off x="3931920" y="4050792"/>
            <a:ext cx="457200" cy="457200"/>
          </a:xfrm>
          <a:prstGeom prst="ellipse">
            <a:avLst/>
          </a:prstGeom>
          <a:solidFill>
            <a:schemeClr val="tx1"/>
          </a:solidFill>
          <a:ln w="12700">
            <a:solidFill>
              <a:schemeClr val="tx1"/>
            </a:solidFill>
            <a:prstDash val="solid"/>
          </a:ln>
        </p:spPr>
      </p:sp>
      <p:sp>
        <p:nvSpPr>
          <p:cNvPr id="19" name="stamp 5 label"/>
          <p:cNvSpPr txBox="1"/>
          <p:nvPr/>
        </p:nvSpPr>
        <p:spPr>
          <a:xfrm>
            <a:off x="3931920" y="4050792"/>
            <a:ext cx="457200" cy="457200"/>
          </a:xfrm>
          <a:prstGeom prst="rect">
            <a:avLst/>
          </a:prstGeom>
          <a:noFill/>
          <a:ln/>
        </p:spPr>
        <p:txBody>
          <a:bodyPr wrap="square" lIns="0" tIns="0" rIns="0" bIns="0" rtlCol="0" anchor="ctr"/>
          <a:lstStyle/>
          <a:p>
            <a:pPr algn="ctr" indent="0" marL="0">
              <a:buNone/>
            </a:pPr>
            <a:r>
              <a:rPr lang="en-US" sz="1300" b="1" dirty="0">
                <a:solidFill>
                  <a:schemeClr val="bg2"/>
                </a:solidFill>
              </a:rPr>
              <a:t>5</a:t>
            </a:r>
            <a:endParaRPr lang="en-US" sz="1300" dirty="0"/>
          </a:p>
        </p:txBody>
      </p:sp>
      <p:sp>
        <p:nvSpPr>
          <p:cNvPr id="20" name="talk step 5"/>
          <p:cNvSpPr txBox="1"/>
          <p:nvPr/>
        </p:nvSpPr>
        <p:spPr>
          <a:xfrm>
            <a:off x="4572000" y="4050792"/>
            <a:ext cx="4206240" cy="457200"/>
          </a:xfrm>
          <a:prstGeom prst="rect">
            <a:avLst/>
          </a:prstGeom>
          <a:noFill/>
          <a:ln/>
        </p:spPr>
        <p:txBody>
          <a:bodyPr wrap="square" lIns="0" tIns="0" rIns="0" bIns="0" rtlCol="0" anchor="ctr"/>
          <a:lstStyle/>
          <a:p>
            <a:pPr indent="0" marL="0">
              <a:buNone/>
            </a:pPr>
            <a:r>
              <a:rPr lang="en-US" sz="1400" dirty="0">
                <a:solidFill>
                  <a:schemeClr val="tx1"/>
                </a:solidFill>
              </a:rPr>
              <a:t>Chats until you say "that is all"</a:t>
            </a:r>
            <a:endParaRPr lang="en-US" sz="1400" dirty="0"/>
          </a:p>
        </p:txBody>
      </p:sp>
      <p:sp>
        <p:nvSpPr>
          <p:cNvPr id="21" name="stamp 6"/>
          <p:cNvSpPr/>
          <p:nvPr/>
        </p:nvSpPr>
        <p:spPr>
          <a:xfrm>
            <a:off x="3931920" y="4709160"/>
            <a:ext cx="457200" cy="457200"/>
          </a:xfrm>
          <a:prstGeom prst="ellipse">
            <a:avLst/>
          </a:prstGeom>
          <a:solidFill>
            <a:schemeClr val="tx1"/>
          </a:solidFill>
          <a:ln w="12700">
            <a:solidFill>
              <a:schemeClr val="tx1"/>
            </a:solidFill>
            <a:prstDash val="solid"/>
          </a:ln>
        </p:spPr>
      </p:sp>
      <p:sp>
        <p:nvSpPr>
          <p:cNvPr id="22" name="stamp 6 label"/>
          <p:cNvSpPr txBox="1"/>
          <p:nvPr/>
        </p:nvSpPr>
        <p:spPr>
          <a:xfrm>
            <a:off x="3931920" y="4709160"/>
            <a:ext cx="457200" cy="457200"/>
          </a:xfrm>
          <a:prstGeom prst="rect">
            <a:avLst/>
          </a:prstGeom>
          <a:noFill/>
          <a:ln/>
        </p:spPr>
        <p:txBody>
          <a:bodyPr wrap="square" lIns="0" tIns="0" rIns="0" bIns="0" rtlCol="0" anchor="ctr"/>
          <a:lstStyle/>
          <a:p>
            <a:pPr algn="ctr" indent="0" marL="0">
              <a:buNone/>
            </a:pPr>
            <a:r>
              <a:rPr lang="en-US" sz="1300" b="1" dirty="0">
                <a:solidFill>
                  <a:schemeClr val="bg2"/>
                </a:solidFill>
              </a:rPr>
              <a:t>6</a:t>
            </a:r>
            <a:endParaRPr lang="en-US" sz="1300" dirty="0"/>
          </a:p>
        </p:txBody>
      </p:sp>
      <p:sp>
        <p:nvSpPr>
          <p:cNvPr id="23" name="talk step 6"/>
          <p:cNvSpPr txBox="1"/>
          <p:nvPr/>
        </p:nvSpPr>
        <p:spPr>
          <a:xfrm>
            <a:off x="4572000" y="4709160"/>
            <a:ext cx="4206240" cy="457200"/>
          </a:xfrm>
          <a:prstGeom prst="rect">
            <a:avLst/>
          </a:prstGeom>
          <a:noFill/>
          <a:ln/>
        </p:spPr>
        <p:txBody>
          <a:bodyPr wrap="square" lIns="0" tIns="0" rIns="0" bIns="0" rtlCol="0" anchor="ctr"/>
          <a:lstStyle/>
          <a:p>
            <a:pPr indent="0" marL="0">
              <a:buNone/>
            </a:pPr>
            <a:r>
              <a:rPr lang="en-US" sz="1400" dirty="0">
                <a:solidFill>
                  <a:schemeClr val="tx1"/>
                </a:solidFill>
              </a:rPr>
              <a:t>Keeps the key points as a Back issue</a:t>
            </a:r>
            <a:endParaRPr lang="en-US" sz="1400" dirty="0"/>
          </a:p>
        </p:txBody>
      </p:sp>
      <p:sp>
        <p:nvSpPr>
          <p:cNvPr id="24" name="talk outcome"/>
          <p:cNvSpPr/>
          <p:nvPr/>
        </p:nvSpPr>
        <p:spPr>
          <a:xfrm>
            <a:off x="9052560" y="1417320"/>
            <a:ext cx="2606040" cy="3886200"/>
          </a:xfrm>
          <a:prstGeom prst="roundRect">
            <a:avLst>
              <a:gd name="adj" fmla="val 6316"/>
            </a:avLst>
          </a:prstGeom>
          <a:solidFill>
            <a:schemeClr val="accent1"/>
          </a:solidFill>
          <a:ln w="12700">
            <a:solidFill>
              <a:schemeClr val="accent1"/>
            </a:solidFill>
            <a:prstDash val="solid"/>
          </a:ln>
          <a:effectLst>
            <a:outerShdw sx="100000" sy="100000" kx="0" ky="0" algn="bl" rotWithShape="0" blurRad="76200" dist="25400" dir="5400000">
              <a:srgbClr val="141310">
                <a:alpha val="18000"/>
              </a:srgbClr>
            </a:outerShdw>
          </a:effectLst>
        </p:spPr>
      </p:sp>
      <p:sp>
        <p:nvSpPr>
          <p:cNvPr id="25" name="talk outcome head"/>
          <p:cNvSpPr txBox="1"/>
          <p:nvPr/>
        </p:nvSpPr>
        <p:spPr>
          <a:xfrm>
            <a:off x="9235440" y="1554480"/>
            <a:ext cx="2240280" cy="457200"/>
          </a:xfrm>
          <a:prstGeom prst="rect">
            <a:avLst/>
          </a:prstGeom>
          <a:noFill/>
          <a:ln/>
        </p:spPr>
        <p:txBody>
          <a:bodyPr wrap="square" lIns="0" tIns="0" rIns="0" bIns="0" rtlCol="0" anchor="ctr"/>
          <a:lstStyle/>
          <a:p>
            <a:pPr indent="0" marL="0">
              <a:buNone/>
            </a:pPr>
            <a:r>
              <a:rPr lang="en-US" sz="1500" b="1" dirty="0">
                <a:solidFill>
                  <a:schemeClr val="tx1"/>
                </a:solidFill>
              </a:rPr>
              <a:t>What it leaves behind</a:t>
            </a:r>
            <a:endParaRPr lang="en-US" sz="1500" dirty="0"/>
          </a:p>
        </p:txBody>
      </p:sp>
      <p:sp>
        <p:nvSpPr>
          <p:cNvPr id="26" name="talk outcome bullets"/>
          <p:cNvSpPr txBox="1"/>
          <p:nvPr/>
        </p:nvSpPr>
        <p:spPr>
          <a:xfrm>
            <a:off x="9235440" y="2057400"/>
            <a:ext cx="2286000" cy="31089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chemeClr val="tx1"/>
                </a:solidFill>
              </a:rPr>
              <a:t>Scores how keen you were on each topic</a:t>
            </a:r>
            <a:endParaRPr lang="en-US" sz="1250" dirty="0"/>
          </a:p>
          <a:p>
            <a:pPr marL="177800" indent="-177800">
              <a:spcAft>
                <a:spcPts val="800"/>
              </a:spcAft>
              <a:buSzPct val="100000"/>
              <a:buChar char="•"/>
            </a:pPr>
            <a:r>
              <a:rPr lang="en-US" sz="1250" dirty="0">
                <a:solidFill>
                  <a:schemeClr val="tx1"/>
                </a:solidFill>
              </a:rPr>
              <a:t>A topic you cared about joins your interests</a:t>
            </a:r>
            <a:endParaRPr lang="en-US" sz="1250" dirty="0"/>
          </a:p>
          <a:p>
            <a:pPr marL="177800" indent="-177800">
              <a:spcAft>
                <a:spcPts val="800"/>
              </a:spcAft>
              <a:buSzPct val="100000"/>
              <a:buChar char="•"/>
            </a:pPr>
            <a:r>
              <a:rPr lang="en-US" sz="1250" dirty="0">
                <a:solidFill>
                  <a:schemeClr val="tx1"/>
                </a:solidFill>
              </a:rPr>
              <a:t>A fresh story shows up on Home when there is news on it</a:t>
            </a:r>
            <a:endParaRPr lang="en-US" sz="1250" dirty="0"/>
          </a:p>
          <a:p>
            <a:pPr marL="177800" indent="-177800">
              <a:spcAft>
                <a:spcPts val="800"/>
              </a:spcAft>
              <a:buSzPct val="100000"/>
              <a:buChar char="•"/>
            </a:pPr>
            <a:r>
              <a:rPr lang="en-US" sz="1250" dirty="0">
                <a:solidFill>
                  <a:schemeClr val="tx1"/>
                </a:solidFill>
              </a:rPr>
              <a:t>Speech to text falls back to Groq Whisper when the phone has none</a:t>
            </a:r>
            <a:endParaRPr lang="en-US" sz="1250" dirty="0"/>
          </a:p>
        </p:txBody>
      </p:sp>
      <p:sp>
        <p:nvSpPr>
          <p:cNvPr id="27" name="talk note"/>
          <p:cNvSpPr txBox="1"/>
          <p:nvPr/>
        </p:nvSpPr>
        <p:spPr>
          <a:xfrm>
            <a:off x="3931920" y="5577840"/>
            <a:ext cx="4937760" cy="457200"/>
          </a:xfrm>
          <a:prstGeom prst="rect">
            <a:avLst/>
          </a:prstGeom>
          <a:noFill/>
          <a:ln/>
        </p:spPr>
        <p:txBody>
          <a:bodyPr wrap="square" lIns="0" tIns="0" rIns="0" bIns="0" rtlCol="0" anchor="ctr"/>
          <a:lstStyle/>
          <a:p>
            <a:pPr indent="0" marL="0">
              <a:buNone/>
            </a:pPr>
            <a:r>
              <a:rPr lang="en-US" sz="1250" i="1" dirty="0">
                <a:solidFill>
                  <a:schemeClr val="tx2"/>
                </a:solidFill>
              </a:rPr>
              <a:t>The only place CurioX speaks and listens, so reading stays quiet.</a:t>
            </a:r>
            <a:endParaRPr lang="en-US" sz="1250" dirty="0"/>
          </a:p>
        </p:txBody>
      </p:sp>
      <p:sp>
        <p:nvSpPr>
          <p:cNvPr id="28" name="chip Contents"/>
          <p:cNvSpPr/>
          <p:nvPr/>
        </p:nvSpPr>
        <p:spPr>
          <a:xfrm>
            <a:off x="10058400" y="6355080"/>
            <a:ext cx="1097280" cy="329184"/>
          </a:xfrm>
          <a:prstGeom prst="roundRect">
            <a:avLst>
              <a:gd name="adj" fmla="val 33333"/>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29" name="chip Contents label">
            <a:hlinkClick r:id="rId2" tooltip="Back to the contents" action="ppaction://hlinksldjump"/>
          </p:cNvPr>
          <p:cNvSpPr txBox="1"/>
          <p:nvPr/>
        </p:nvSpPr>
        <p:spPr>
          <a:xfrm>
            <a:off x="10058400" y="6355080"/>
            <a:ext cx="1097280" cy="329184"/>
          </a:xfrm>
          <a:prstGeom prst="rect">
            <a:avLst/>
          </a:prstGeom>
          <a:noFill/>
          <a:ln/>
        </p:spPr>
        <p:txBody>
          <a:bodyPr wrap="square" lIns="0" tIns="0" rIns="0" bIns="0" rtlCol="0" anchor="ctr"/>
          <a:lstStyle/>
          <a:p>
            <a:pPr algn="ctr" indent="0" marL="0">
              <a:buNone/>
            </a:pPr>
            <a:r>
              <a:rPr lang="en-US" sz="1000" b="1" u="sng" dirty="0">
                <a:solidFill>
                  <a:schemeClr val="tx1"/>
                </a:solidFill>
                <a:hlinkClick r:id="rId2" action="ppaction://hlinksldjump" tooltip="Back to the contents">
                  <a:extLst>
                    <a:ext uri="{A12FA001-AC4F-418D-AE19-62706E023703}">
                      <ahyp:hlinkClr xmlns:ahyp="http://schemas.microsoft.com/office/drawing/2018/hyperlinkcolor" val="tx"/>
                    </a:ext>
                  </a:extLst>
                </a:hlinkClick>
              </a:rPr>
              <a:t>Contents</a:t>
            </a:r>
            <a:endParaRPr lang="en-US" sz="10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058400" cy="822960"/>
          </a:xfrm>
          <a:prstGeom prst="rect">
            <a:avLst/>
          </a:prstGeom>
          <a:noFill/>
          <a:ln/>
        </p:spPr>
        <p:txBody>
          <a:bodyPr wrap="square" lIns="0" tIns="0" rIns="0" bIns="0" rtlCol="0" anchor="ctr"/>
          <a:lstStyle/>
          <a:p>
            <a:pPr algn="l" indent="0" marL="0">
              <a:buNone/>
            </a:pPr>
            <a:r>
              <a:rPr lang="en-US" sz="3000" b="1" dirty="0">
                <a:solidFill>
                  <a:schemeClr val="tx1"/>
                </a:solidFill>
              </a:rPr>
              <a:t>Ask: streamed answers with live, cited research</a:t>
            </a:r>
            <a:endParaRPr lang="en-US" sz="3000" dirty="0"/>
          </a:p>
        </p:txBody>
      </p:sp>
      <p:sp>
        <p:nvSpPr>
          <p:cNvPr id="3" name="33-ask-empty frame"/>
          <p:cNvSpPr/>
          <p:nvPr/>
        </p:nvSpPr>
        <p:spPr>
          <a:xfrm>
            <a:off x="576072" y="1353312"/>
            <a:ext cx="1987152" cy="4151376"/>
          </a:xfrm>
          <a:prstGeom prst="roundRect">
            <a:avLst>
              <a:gd name="adj" fmla="val 10123"/>
            </a:avLst>
          </a:prstGeom>
          <a:solidFill>
            <a:schemeClr val="tx1"/>
          </a:solidFill>
          <a:ln/>
          <a:effectLst>
            <a:outerShdw sx="100000" sy="100000" kx="0" ky="0" algn="bl" rotWithShape="0" blurRad="76200" dist="25400" dir="5400000">
              <a:srgbClr val="141310">
                <a:alpha val="18000"/>
              </a:srgbClr>
            </a:outerShdw>
          </a:effectLst>
        </p:spPr>
      </p:sp>
      <p:pic>
        <p:nvPicPr>
          <p:cNvPr id="4" name="33-ask-empty screen" descr="/private/tmp/claude-502/-Users-surya-Desktop-Hackathon-Team-cogniv8--F-/77fb1a42-404d-4abc-a9b4-2d62a58e4298/scratchpad/deck/img/33-ask-empty.jpg">    </p:cNvPr>
          <p:cNvPicPr>
            <a:picLocks noChangeAspect="1"/>
          </p:cNvPicPr>
          <p:nvPr/>
        </p:nvPicPr>
        <p:blipFill>
          <a:blip r:embed="rId1"/>
          <a:stretch>
            <a:fillRect/>
          </a:stretch>
        </p:blipFill>
        <p:spPr>
          <a:xfrm>
            <a:off x="640080" y="1417320"/>
            <a:ext cx="1859136" cy="4023360"/>
          </a:xfrm>
          <a:prstGeom prst="rect">
            <a:avLst/>
          </a:prstGeom>
        </p:spPr>
      </p:pic>
      <p:sp>
        <p:nvSpPr>
          <p:cNvPr id="5" name="33-ask-empty caption"/>
          <p:cNvSpPr txBox="1"/>
          <p:nvPr/>
        </p:nvSpPr>
        <p:spPr>
          <a:xfrm>
            <a:off x="480060" y="5577840"/>
            <a:ext cx="2179176" cy="457200"/>
          </a:xfrm>
          <a:prstGeom prst="rect">
            <a:avLst/>
          </a:prstGeom>
          <a:noFill/>
          <a:ln/>
        </p:spPr>
        <p:txBody>
          <a:bodyPr wrap="square" lIns="0" tIns="0" rIns="0" bIns="0" rtlCol="0" anchor="t"/>
          <a:lstStyle/>
          <a:p>
            <a:pPr algn="ctr" indent="0" marL="0">
              <a:buNone/>
            </a:pPr>
            <a:r>
              <a:rPr lang="en-US" sz="1200" dirty="0">
                <a:solidFill>
                  <a:schemeClr val="tx2"/>
                </a:solidFill>
              </a:rPr>
              <a:t>Suggested questions come from your reader card</a:t>
            </a:r>
            <a:endParaRPr lang="en-US" sz="1200" dirty="0"/>
          </a:p>
        </p:txBody>
      </p:sp>
      <p:sp>
        <p:nvSpPr>
          <p:cNvPr id="6" name="35-ask-answer frame"/>
          <p:cNvSpPr/>
          <p:nvPr/>
        </p:nvSpPr>
        <p:spPr>
          <a:xfrm>
            <a:off x="2892408" y="1353312"/>
            <a:ext cx="1987152" cy="4151376"/>
          </a:xfrm>
          <a:prstGeom prst="roundRect">
            <a:avLst>
              <a:gd name="adj" fmla="val 10123"/>
            </a:avLst>
          </a:prstGeom>
          <a:solidFill>
            <a:schemeClr val="tx1"/>
          </a:solidFill>
          <a:ln/>
          <a:effectLst>
            <a:outerShdw sx="100000" sy="100000" kx="0" ky="0" algn="bl" rotWithShape="0" blurRad="76200" dist="25400" dir="5400000">
              <a:srgbClr val="141310">
                <a:alpha val="18000"/>
              </a:srgbClr>
            </a:outerShdw>
          </a:effectLst>
        </p:spPr>
      </p:sp>
      <p:pic>
        <p:nvPicPr>
          <p:cNvPr id="7" name="35-ask-answer screen" descr="/private/tmp/claude-502/-Users-surya-Desktop-Hackathon-Team-cogniv8--F-/77fb1a42-404d-4abc-a9b4-2d62a58e4298/scratchpad/deck/img/35-ask-answer.jpg">    </p:cNvPr>
          <p:cNvPicPr>
            <a:picLocks noChangeAspect="1"/>
          </p:cNvPicPr>
          <p:nvPr/>
        </p:nvPicPr>
        <p:blipFill>
          <a:blip r:embed="rId2"/>
          <a:stretch>
            <a:fillRect/>
          </a:stretch>
        </p:blipFill>
        <p:spPr>
          <a:xfrm>
            <a:off x="2956416" y="1417320"/>
            <a:ext cx="1859136" cy="4023360"/>
          </a:xfrm>
          <a:prstGeom prst="rect">
            <a:avLst/>
          </a:prstGeom>
        </p:spPr>
      </p:pic>
      <p:sp>
        <p:nvSpPr>
          <p:cNvPr id="8" name="35-ask-answer caption"/>
          <p:cNvSpPr txBox="1"/>
          <p:nvPr/>
        </p:nvSpPr>
        <p:spPr>
          <a:xfrm>
            <a:off x="2796396" y="5577840"/>
            <a:ext cx="2179176" cy="457200"/>
          </a:xfrm>
          <a:prstGeom prst="rect">
            <a:avLst/>
          </a:prstGeom>
          <a:noFill/>
          <a:ln/>
        </p:spPr>
        <p:txBody>
          <a:bodyPr wrap="square" lIns="0" tIns="0" rIns="0" bIns="0" rtlCol="0" anchor="t"/>
          <a:lstStyle/>
          <a:p>
            <a:pPr algn="ctr" indent="0" marL="0">
              <a:buNone/>
            </a:pPr>
            <a:r>
              <a:rPr lang="en-US" sz="1200" dirty="0">
                <a:solidFill>
                  <a:schemeClr val="tx2"/>
                </a:solidFill>
              </a:rPr>
              <a:t>Answers adapt to your profile and the conversation</a:t>
            </a:r>
            <a:endParaRPr lang="en-US" sz="1200" dirty="0"/>
          </a:p>
        </p:txBody>
      </p:sp>
      <p:sp>
        <p:nvSpPr>
          <p:cNvPr id="9" name="36-ask-simplified frame"/>
          <p:cNvSpPr/>
          <p:nvPr/>
        </p:nvSpPr>
        <p:spPr>
          <a:xfrm>
            <a:off x="5208743" y="1353312"/>
            <a:ext cx="1987152" cy="4151376"/>
          </a:xfrm>
          <a:prstGeom prst="roundRect">
            <a:avLst>
              <a:gd name="adj" fmla="val 10123"/>
            </a:avLst>
          </a:prstGeom>
          <a:solidFill>
            <a:schemeClr val="tx1"/>
          </a:solidFill>
          <a:ln/>
          <a:effectLst>
            <a:outerShdw sx="100000" sy="100000" kx="0" ky="0" algn="bl" rotWithShape="0" blurRad="76200" dist="25400" dir="5400000">
              <a:srgbClr val="141310">
                <a:alpha val="18000"/>
              </a:srgbClr>
            </a:outerShdw>
          </a:effectLst>
        </p:spPr>
      </p:sp>
      <p:pic>
        <p:nvPicPr>
          <p:cNvPr id="10" name="36-ask-simplified screen" descr="/private/tmp/claude-502/-Users-surya-Desktop-Hackathon-Team-cogniv8--F-/77fb1a42-404d-4abc-a9b4-2d62a58e4298/scratchpad/deck/img/36-ask-simplified.jpg">    </p:cNvPr>
          <p:cNvPicPr>
            <a:picLocks noChangeAspect="1"/>
          </p:cNvPicPr>
          <p:nvPr/>
        </p:nvPicPr>
        <p:blipFill>
          <a:blip r:embed="rId3"/>
          <a:stretch>
            <a:fillRect/>
          </a:stretch>
        </p:blipFill>
        <p:spPr>
          <a:xfrm>
            <a:off x="5272751" y="1417320"/>
            <a:ext cx="1859136" cy="4023360"/>
          </a:xfrm>
          <a:prstGeom prst="rect">
            <a:avLst/>
          </a:prstGeom>
        </p:spPr>
      </p:pic>
      <p:sp>
        <p:nvSpPr>
          <p:cNvPr id="11" name="36-ask-simplified caption"/>
          <p:cNvSpPr txBox="1"/>
          <p:nvPr/>
        </p:nvSpPr>
        <p:spPr>
          <a:xfrm>
            <a:off x="5112731" y="5577840"/>
            <a:ext cx="2179176" cy="457200"/>
          </a:xfrm>
          <a:prstGeom prst="rect">
            <a:avLst/>
          </a:prstGeom>
          <a:noFill/>
          <a:ln/>
        </p:spPr>
        <p:txBody>
          <a:bodyPr wrap="square" lIns="0" tIns="0" rIns="0" bIns="0" rtlCol="0" anchor="t"/>
          <a:lstStyle/>
          <a:p>
            <a:pPr algn="ctr" indent="0" marL="0">
              <a:buNone/>
            </a:pPr>
            <a:r>
              <a:rPr lang="en-US" sz="1200" dirty="0">
                <a:solidFill>
                  <a:schemeClr val="tx2"/>
                </a:solidFill>
              </a:rPr>
              <a:t>One tap: Simplify, Go deeper, Example, Challenge me, Compare</a:t>
            </a:r>
            <a:endParaRPr lang="en-US" sz="1200" dirty="0"/>
          </a:p>
        </p:txBody>
      </p:sp>
      <p:sp>
        <p:nvSpPr>
          <p:cNvPr id="12" name="ask panel"/>
          <p:cNvSpPr/>
          <p:nvPr/>
        </p:nvSpPr>
        <p:spPr>
          <a:xfrm>
            <a:off x="8001000" y="1417320"/>
            <a:ext cx="3657600" cy="4023360"/>
          </a:xfrm>
          <a:prstGeom prst="roundRect">
            <a:avLst>
              <a:gd name="adj" fmla="val 4500"/>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13" name="ask panel head"/>
          <p:cNvSpPr txBox="1"/>
          <p:nvPr/>
        </p:nvSpPr>
        <p:spPr>
          <a:xfrm>
            <a:off x="8229600" y="1554480"/>
            <a:ext cx="3200400" cy="411480"/>
          </a:xfrm>
          <a:prstGeom prst="rect">
            <a:avLst/>
          </a:prstGeom>
          <a:noFill/>
          <a:ln/>
        </p:spPr>
        <p:txBody>
          <a:bodyPr wrap="square" lIns="0" tIns="0" rIns="0" bIns="0" rtlCol="0" anchor="ctr"/>
          <a:lstStyle/>
          <a:p>
            <a:pPr indent="0" marL="0">
              <a:buNone/>
            </a:pPr>
            <a:r>
              <a:rPr lang="en-US" sz="1500" b="1" dirty="0">
                <a:solidFill>
                  <a:schemeClr val="tx1"/>
                </a:solidFill>
              </a:rPr>
              <a:t>How an answer is made</a:t>
            </a:r>
            <a:endParaRPr lang="en-US" sz="1500" dirty="0"/>
          </a:p>
        </p:txBody>
      </p:sp>
      <p:sp>
        <p:nvSpPr>
          <p:cNvPr id="14" name="ask panel bullets"/>
          <p:cNvSpPr txBox="1"/>
          <p:nvPr/>
        </p:nvSpPr>
        <p:spPr>
          <a:xfrm>
            <a:off x="8229600" y="2057400"/>
            <a:ext cx="3200400" cy="32918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chemeClr val="tx1"/>
                </a:solidFill>
              </a:rPr>
              <a:t>A small model decides if the question needs current information</a:t>
            </a:r>
            <a:endParaRPr lang="en-US" sz="1250" dirty="0"/>
          </a:p>
          <a:p>
            <a:pPr marL="177800" indent="-177800">
              <a:spcAft>
                <a:spcPts val="700"/>
              </a:spcAft>
              <a:buSzPct val="100000"/>
              <a:buChar char="•"/>
            </a:pPr>
            <a:r>
              <a:rPr lang="en-US" sz="1250" dirty="0">
                <a:solidFill>
                  <a:schemeClr val="tx1"/>
                </a:solidFill>
              </a:rPr>
              <a:t>If so, one Tavily web search; results are cached for six hours</a:t>
            </a:r>
            <a:endParaRPr lang="en-US" sz="1250" dirty="0"/>
          </a:p>
          <a:p>
            <a:pPr marL="177800" indent="-177800">
              <a:spcAft>
                <a:spcPts val="700"/>
              </a:spcAft>
              <a:buSzPct val="100000"/>
              <a:buChar char="•"/>
            </a:pPr>
            <a:r>
              <a:rPr lang="en-US" sz="1250" dirty="0">
                <a:solidFill>
                  <a:schemeClr val="tx1"/>
                </a:solidFill>
              </a:rPr>
              <a:t>The answer streams token by token with numbered, tappable citations</a:t>
            </a:r>
            <a:endParaRPr lang="en-US" sz="1250" dirty="0"/>
          </a:p>
          <a:p>
            <a:pPr marL="177800" indent="-177800">
              <a:spcAft>
                <a:spcPts val="700"/>
              </a:spcAft>
              <a:buSzPct val="100000"/>
              <a:buChar char="•"/>
            </a:pPr>
            <a:r>
              <a:rPr lang="en-US" sz="1250" dirty="0">
                <a:solidFill>
                  <a:schemeClr val="tx1"/>
                </a:solidFill>
              </a:rPr>
              <a:t>Any answer can be turned into cards and pinned</a:t>
            </a:r>
            <a:endParaRPr lang="en-US" sz="1250" dirty="0"/>
          </a:p>
          <a:p>
            <a:pPr marL="177800" indent="-177800">
              <a:spcAft>
                <a:spcPts val="700"/>
              </a:spcAft>
              <a:buSzPct val="100000"/>
              <a:buChar char="•"/>
            </a:pPr>
            <a:r>
              <a:rPr lang="en-US" sz="1250" dirty="0">
                <a:solidFill>
                  <a:schemeClr val="tx1"/>
                </a:solidFill>
              </a:rPr>
              <a:t>If one provider is rate-limited the next one answers, and a labelled demo answer is the last resort</a:t>
            </a:r>
            <a:endParaRPr lang="en-US" sz="1250" dirty="0"/>
          </a:p>
        </p:txBody>
      </p:sp>
      <p:sp>
        <p:nvSpPr>
          <p:cNvPr id="15" name="chip Contents"/>
          <p:cNvSpPr/>
          <p:nvPr/>
        </p:nvSpPr>
        <p:spPr>
          <a:xfrm>
            <a:off x="10058400" y="6355080"/>
            <a:ext cx="1097280" cy="329184"/>
          </a:xfrm>
          <a:prstGeom prst="roundRect">
            <a:avLst>
              <a:gd name="adj" fmla="val 33333"/>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16" name="chip Contents label">
            <a:hlinkClick r:id="rId4" tooltip="Back to the contents" action="ppaction://hlinksldjump"/>
          </p:cNvPr>
          <p:cNvSpPr txBox="1"/>
          <p:nvPr/>
        </p:nvSpPr>
        <p:spPr>
          <a:xfrm>
            <a:off x="10058400" y="6355080"/>
            <a:ext cx="1097280" cy="329184"/>
          </a:xfrm>
          <a:prstGeom prst="rect">
            <a:avLst/>
          </a:prstGeom>
          <a:noFill/>
          <a:ln/>
        </p:spPr>
        <p:txBody>
          <a:bodyPr wrap="square" lIns="0" tIns="0" rIns="0" bIns="0" rtlCol="0" anchor="ctr"/>
          <a:lstStyle/>
          <a:p>
            <a:pPr algn="ctr" indent="0" marL="0">
              <a:buNone/>
            </a:pPr>
            <a:r>
              <a:rPr lang="en-US" sz="1000" b="1" u="sng" dirty="0">
                <a:solidFill>
                  <a:schemeClr val="tx1"/>
                </a:solidFill>
                <a:hlinkClick r:id="rId4" action="ppaction://hlinksldjump" tooltip="Back to the contents">
                  <a:extLst>
                    <a:ext uri="{A12FA001-AC4F-418D-AE19-62706E023703}">
                      <ahyp:hlinkClr xmlns:ahyp="http://schemas.microsoft.com/office/drawing/2018/hyperlinkcolor" val="tx"/>
                    </a:ext>
                  </a:extLst>
                </a:hlinkClick>
              </a:rPr>
              <a:t>Contents</a:t>
            </a:r>
            <a:endParaRPr lang="en-US" sz="10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058400" cy="822960"/>
          </a:xfrm>
          <a:prstGeom prst="rect">
            <a:avLst/>
          </a:prstGeom>
          <a:noFill/>
          <a:ln/>
        </p:spPr>
        <p:txBody>
          <a:bodyPr wrap="square" lIns="0" tIns="0" rIns="0" bIns="0" rtlCol="0" anchor="ctr"/>
          <a:lstStyle/>
          <a:p>
            <a:pPr algn="l" indent="0" marL="0">
              <a:buNone/>
            </a:pPr>
            <a:r>
              <a:rPr lang="en-US" sz="3000" b="1" dirty="0">
                <a:solidFill>
                  <a:schemeClr val="tx1"/>
                </a:solidFill>
              </a:rPr>
              <a:t>It learns you: every action is an interest signal</a:t>
            </a:r>
            <a:endParaRPr lang="en-US" sz="3000" dirty="0"/>
          </a:p>
        </p:txBody>
      </p:sp>
      <p:sp>
        <p:nvSpPr>
          <p:cNvPr id="3" name="signal Read a deck"/>
          <p:cNvSpPr/>
          <p:nvPr/>
        </p:nvSpPr>
        <p:spPr>
          <a:xfrm>
            <a:off x="548640" y="1463040"/>
            <a:ext cx="1920240" cy="1371600"/>
          </a:xfrm>
          <a:prstGeom prst="roundRect">
            <a:avLst>
              <a:gd name="adj" fmla="val 12000"/>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4" name="signal Read a deck value"/>
          <p:cNvSpPr txBox="1"/>
          <p:nvPr/>
        </p:nvSpPr>
        <p:spPr>
          <a:xfrm>
            <a:off x="548640" y="1554480"/>
            <a:ext cx="1920240" cy="731520"/>
          </a:xfrm>
          <a:prstGeom prst="rect">
            <a:avLst/>
          </a:prstGeom>
          <a:noFill/>
          <a:ln/>
        </p:spPr>
        <p:txBody>
          <a:bodyPr wrap="square" lIns="0" tIns="0" rIns="0" bIns="0" rtlCol="0" anchor="ctr"/>
          <a:lstStyle/>
          <a:p>
            <a:pPr algn="ctr" indent="0" marL="0">
              <a:buNone/>
            </a:pPr>
            <a:r>
              <a:rPr lang="en-US" sz="3600" b="1" dirty="0">
                <a:solidFill>
                  <a:schemeClr val="tx1"/>
                </a:solidFill>
              </a:rPr>
              <a:t>+1</a:t>
            </a:r>
            <a:endParaRPr lang="en-US" sz="3600" dirty="0"/>
          </a:p>
        </p:txBody>
      </p:sp>
      <p:sp>
        <p:nvSpPr>
          <p:cNvPr id="5" name="signal Read a deck label"/>
          <p:cNvSpPr txBox="1"/>
          <p:nvPr/>
        </p:nvSpPr>
        <p:spPr>
          <a:xfrm>
            <a:off x="548640" y="2286000"/>
            <a:ext cx="1920240" cy="365760"/>
          </a:xfrm>
          <a:prstGeom prst="rect">
            <a:avLst/>
          </a:prstGeom>
          <a:noFill/>
          <a:ln/>
        </p:spPr>
        <p:txBody>
          <a:bodyPr wrap="square" lIns="0" tIns="0" rIns="0" bIns="0" rtlCol="0" anchor="ctr"/>
          <a:lstStyle/>
          <a:p>
            <a:pPr algn="ctr" indent="0" marL="0">
              <a:buNone/>
            </a:pPr>
            <a:r>
              <a:rPr lang="en-US" sz="1300" dirty="0">
                <a:solidFill>
                  <a:schemeClr val="tx2"/>
                </a:solidFill>
              </a:rPr>
              <a:t>Read a deck</a:t>
            </a:r>
            <a:endParaRPr lang="en-US" sz="1300" dirty="0"/>
          </a:p>
        </p:txBody>
      </p:sp>
      <p:sp>
        <p:nvSpPr>
          <p:cNvPr id="6" name="signal Ask about it"/>
          <p:cNvSpPr/>
          <p:nvPr/>
        </p:nvSpPr>
        <p:spPr>
          <a:xfrm>
            <a:off x="2697480" y="1463040"/>
            <a:ext cx="1920240" cy="1371600"/>
          </a:xfrm>
          <a:prstGeom prst="roundRect">
            <a:avLst>
              <a:gd name="adj" fmla="val 12000"/>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7" name="signal Ask about it value"/>
          <p:cNvSpPr txBox="1"/>
          <p:nvPr/>
        </p:nvSpPr>
        <p:spPr>
          <a:xfrm>
            <a:off x="2697480" y="1554480"/>
            <a:ext cx="1920240" cy="731520"/>
          </a:xfrm>
          <a:prstGeom prst="rect">
            <a:avLst/>
          </a:prstGeom>
          <a:noFill/>
          <a:ln/>
        </p:spPr>
        <p:txBody>
          <a:bodyPr wrap="square" lIns="0" tIns="0" rIns="0" bIns="0" rtlCol="0" anchor="ctr"/>
          <a:lstStyle/>
          <a:p>
            <a:pPr algn="ctr" indent="0" marL="0">
              <a:buNone/>
            </a:pPr>
            <a:r>
              <a:rPr lang="en-US" sz="3600" b="1" dirty="0">
                <a:solidFill>
                  <a:schemeClr val="tx1"/>
                </a:solidFill>
              </a:rPr>
              <a:t>+2</a:t>
            </a:r>
            <a:endParaRPr lang="en-US" sz="3600" dirty="0"/>
          </a:p>
        </p:txBody>
      </p:sp>
      <p:sp>
        <p:nvSpPr>
          <p:cNvPr id="8" name="signal Ask about it label"/>
          <p:cNvSpPr txBox="1"/>
          <p:nvPr/>
        </p:nvSpPr>
        <p:spPr>
          <a:xfrm>
            <a:off x="2697480" y="2286000"/>
            <a:ext cx="1920240" cy="365760"/>
          </a:xfrm>
          <a:prstGeom prst="rect">
            <a:avLst/>
          </a:prstGeom>
          <a:noFill/>
          <a:ln/>
        </p:spPr>
        <p:txBody>
          <a:bodyPr wrap="square" lIns="0" tIns="0" rIns="0" bIns="0" rtlCol="0" anchor="ctr"/>
          <a:lstStyle/>
          <a:p>
            <a:pPr algn="ctr" indent="0" marL="0">
              <a:buNone/>
            </a:pPr>
            <a:r>
              <a:rPr lang="en-US" sz="1300" dirty="0">
                <a:solidFill>
                  <a:schemeClr val="tx2"/>
                </a:solidFill>
              </a:rPr>
              <a:t>Ask about it</a:t>
            </a:r>
            <a:endParaRPr lang="en-US" sz="1300" dirty="0"/>
          </a:p>
        </p:txBody>
      </p:sp>
      <p:sp>
        <p:nvSpPr>
          <p:cNvPr id="9" name="signal Talk about it"/>
          <p:cNvSpPr/>
          <p:nvPr/>
        </p:nvSpPr>
        <p:spPr>
          <a:xfrm>
            <a:off x="4846320" y="1463040"/>
            <a:ext cx="1920240" cy="1371600"/>
          </a:xfrm>
          <a:prstGeom prst="roundRect">
            <a:avLst>
              <a:gd name="adj" fmla="val 12000"/>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10" name="signal Talk about it value"/>
          <p:cNvSpPr txBox="1"/>
          <p:nvPr/>
        </p:nvSpPr>
        <p:spPr>
          <a:xfrm>
            <a:off x="4846320" y="1554480"/>
            <a:ext cx="1920240" cy="731520"/>
          </a:xfrm>
          <a:prstGeom prst="rect">
            <a:avLst/>
          </a:prstGeom>
          <a:noFill/>
          <a:ln/>
        </p:spPr>
        <p:txBody>
          <a:bodyPr wrap="square" lIns="0" tIns="0" rIns="0" bIns="0" rtlCol="0" anchor="ctr"/>
          <a:lstStyle/>
          <a:p>
            <a:pPr algn="ctr" indent="0" marL="0">
              <a:buNone/>
            </a:pPr>
            <a:r>
              <a:rPr lang="en-US" sz="3600" b="1" dirty="0">
                <a:solidFill>
                  <a:schemeClr val="tx1"/>
                </a:solidFill>
              </a:rPr>
              <a:t>+3</a:t>
            </a:r>
            <a:endParaRPr lang="en-US" sz="3600" dirty="0"/>
          </a:p>
        </p:txBody>
      </p:sp>
      <p:sp>
        <p:nvSpPr>
          <p:cNvPr id="11" name="signal Talk about it label"/>
          <p:cNvSpPr txBox="1"/>
          <p:nvPr/>
        </p:nvSpPr>
        <p:spPr>
          <a:xfrm>
            <a:off x="4846320" y="2286000"/>
            <a:ext cx="1920240" cy="365760"/>
          </a:xfrm>
          <a:prstGeom prst="rect">
            <a:avLst/>
          </a:prstGeom>
          <a:noFill/>
          <a:ln/>
        </p:spPr>
        <p:txBody>
          <a:bodyPr wrap="square" lIns="0" tIns="0" rIns="0" bIns="0" rtlCol="0" anchor="ctr"/>
          <a:lstStyle/>
          <a:p>
            <a:pPr algn="ctr" indent="0" marL="0">
              <a:buNone/>
            </a:pPr>
            <a:r>
              <a:rPr lang="en-US" sz="1300" dirty="0">
                <a:solidFill>
                  <a:schemeClr val="tx2"/>
                </a:solidFill>
              </a:rPr>
              <a:t>Talk about it</a:t>
            </a:r>
            <a:endParaRPr lang="en-US" sz="1300" dirty="0"/>
          </a:p>
        </p:txBody>
      </p:sp>
      <p:sp>
        <p:nvSpPr>
          <p:cNvPr id="12" name="promote panel"/>
          <p:cNvSpPr/>
          <p:nvPr/>
        </p:nvSpPr>
        <p:spPr>
          <a:xfrm>
            <a:off x="548640" y="3063240"/>
            <a:ext cx="6217920" cy="1005840"/>
          </a:xfrm>
          <a:prstGeom prst="roundRect">
            <a:avLst>
              <a:gd name="adj" fmla="val 16364"/>
            </a:avLst>
          </a:prstGeom>
          <a:solidFill>
            <a:schemeClr val="accent1"/>
          </a:solidFill>
          <a:ln w="12700">
            <a:solidFill>
              <a:schemeClr val="accent1"/>
            </a:solidFill>
            <a:prstDash val="solid"/>
          </a:ln>
          <a:effectLst>
            <a:outerShdw sx="100000" sy="100000" kx="0" ky="0" algn="bl" rotWithShape="0" blurRad="76200" dist="25400" dir="5400000">
              <a:srgbClr val="141310">
                <a:alpha val="18000"/>
              </a:srgbClr>
            </a:outerShdw>
          </a:effectLst>
        </p:spPr>
      </p:sp>
      <p:sp>
        <p:nvSpPr>
          <p:cNvPr id="13" name="promote text"/>
          <p:cNvSpPr txBox="1"/>
          <p:nvPr/>
        </p:nvSpPr>
        <p:spPr>
          <a:xfrm>
            <a:off x="777240" y="3154680"/>
            <a:ext cx="5760720" cy="822960"/>
          </a:xfrm>
          <a:prstGeom prst="rect">
            <a:avLst/>
          </a:prstGeom>
          <a:noFill/>
          <a:ln/>
        </p:spPr>
        <p:txBody>
          <a:bodyPr wrap="square" lIns="0" tIns="0" rIns="0" bIns="0" rtlCol="0" anchor="ctr"/>
          <a:lstStyle/>
          <a:p>
            <a:pPr indent="0" marL="0">
              <a:buNone/>
            </a:pPr>
            <a:r>
              <a:rPr lang="en-US" sz="1500" b="1" dirty="0">
                <a:solidFill>
                  <a:schemeClr val="tx1"/>
                </a:solidFill>
              </a:rPr>
              <a:t>At 4 points a topic is promoted to your interests, and the next issue carries a story on it.</a:t>
            </a:r>
            <a:endParaRPr lang="en-US" sz="1500" dirty="0"/>
          </a:p>
        </p:txBody>
      </p:sp>
      <p:sp>
        <p:nvSpPr>
          <p:cNvPr id="14" name="personal bullets"/>
          <p:cNvSpPr txBox="1"/>
          <p:nvPr/>
        </p:nvSpPr>
        <p:spPr>
          <a:xfrm>
            <a:off x="548640" y="4343400"/>
            <a:ext cx="6217920" cy="182880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tx1"/>
                </a:solidFill>
              </a:rPr>
              <a:t>Reader card: edit any answer under You, or redo the five questions</a:t>
            </a:r>
            <a:endParaRPr lang="en-US" sz="1350" dirty="0"/>
          </a:p>
          <a:p>
            <a:pPr marL="177800" indent="-177800">
              <a:spcAft>
                <a:spcPts val="700"/>
              </a:spcAft>
              <a:buSzPct val="100000"/>
              <a:buChar char="•"/>
            </a:pPr>
            <a:r>
              <a:rPr lang="en-US" sz="1350" dirty="0">
                <a:solidFill>
                  <a:schemeClr val="tx1"/>
                </a:solidFill>
              </a:rPr>
              <a:t>Accounts are optional: sign in to keep the card, issues and pins on every phone</a:t>
            </a:r>
            <a:endParaRPr lang="en-US" sz="1350" dirty="0"/>
          </a:p>
          <a:p>
            <a:pPr marL="177800" indent="-177800">
              <a:spcAft>
                <a:spcPts val="700"/>
              </a:spcAft>
              <a:buSzPct val="100000"/>
              <a:buChar char="•"/>
            </a:pPr>
            <a:r>
              <a:rPr lang="en-US" sz="1350" dirty="0">
                <a:solidFill>
                  <a:schemeClr val="tx1"/>
                </a:solidFill>
              </a:rPr>
              <a:t>Pinboard: sources and videos pinned from any deck, kept for a deeper read</a:t>
            </a:r>
            <a:endParaRPr lang="en-US" sz="1350" dirty="0"/>
          </a:p>
          <a:p>
            <a:pPr marL="177800" indent="-177800">
              <a:spcAft>
                <a:spcPts val="700"/>
              </a:spcAft>
              <a:buSzPct val="100000"/>
              <a:buChar char="•"/>
            </a:pPr>
            <a:r>
              <a:rPr lang="en-US" sz="1350" dirty="0">
                <a:solidFill>
                  <a:schemeClr val="tx1"/>
                </a:solidFill>
              </a:rPr>
              <a:t>Back issues: chats and talks are summarised into decks you can reopen</a:t>
            </a:r>
            <a:endParaRPr lang="en-US" sz="1350" dirty="0"/>
          </a:p>
        </p:txBody>
      </p:sp>
      <p:sp>
        <p:nvSpPr>
          <p:cNvPr id="15" name="32-you frame"/>
          <p:cNvSpPr/>
          <p:nvPr/>
        </p:nvSpPr>
        <p:spPr>
          <a:xfrm>
            <a:off x="7159752" y="1307592"/>
            <a:ext cx="2071658" cy="4334256"/>
          </a:xfrm>
          <a:prstGeom prst="roundRect">
            <a:avLst>
              <a:gd name="adj" fmla="val 9710"/>
            </a:avLst>
          </a:prstGeom>
          <a:solidFill>
            <a:schemeClr val="tx1"/>
          </a:solidFill>
          <a:ln/>
          <a:effectLst>
            <a:outerShdw sx="100000" sy="100000" kx="0" ky="0" algn="bl" rotWithShape="0" blurRad="76200" dist="25400" dir="5400000">
              <a:srgbClr val="141310">
                <a:alpha val="18000"/>
              </a:srgbClr>
            </a:outerShdw>
          </a:effectLst>
        </p:spPr>
      </p:sp>
      <p:pic>
        <p:nvPicPr>
          <p:cNvPr id="16" name="32-you screen" descr="/private/tmp/claude-502/-Users-surya-Desktop-Hackathon-Team-cogniv8--F-/77fb1a42-404d-4abc-a9b4-2d62a58e4298/scratchpad/deck/img/32-you.jpg">    </p:cNvPr>
          <p:cNvPicPr>
            <a:picLocks noChangeAspect="1"/>
          </p:cNvPicPr>
          <p:nvPr/>
        </p:nvPicPr>
        <p:blipFill>
          <a:blip r:embed="rId1"/>
          <a:stretch>
            <a:fillRect/>
          </a:stretch>
        </p:blipFill>
        <p:spPr>
          <a:xfrm>
            <a:off x="7223760" y="1371600"/>
            <a:ext cx="1943642" cy="4206240"/>
          </a:xfrm>
          <a:prstGeom prst="rect">
            <a:avLst/>
          </a:prstGeom>
        </p:spPr>
      </p:pic>
      <p:sp>
        <p:nvSpPr>
          <p:cNvPr id="17" name="32-you caption"/>
          <p:cNvSpPr txBox="1"/>
          <p:nvPr/>
        </p:nvSpPr>
        <p:spPr>
          <a:xfrm>
            <a:off x="6949440" y="5715000"/>
            <a:ext cx="2492282" cy="457200"/>
          </a:xfrm>
          <a:prstGeom prst="rect">
            <a:avLst/>
          </a:prstGeom>
          <a:noFill/>
          <a:ln/>
        </p:spPr>
        <p:txBody>
          <a:bodyPr wrap="square" lIns="0" tIns="0" rIns="0" bIns="0" rtlCol="0" anchor="t"/>
          <a:lstStyle/>
          <a:p>
            <a:pPr algn="ctr" indent="0" marL="0">
              <a:buNone/>
            </a:pPr>
            <a:r>
              <a:rPr lang="en-US" sz="1200" dirty="0">
                <a:solidFill>
                  <a:schemeClr val="tx2"/>
                </a:solidFill>
              </a:rPr>
              <a:t>You: the reader card and reading stats</a:t>
            </a:r>
            <a:endParaRPr lang="en-US" sz="1200" dirty="0"/>
          </a:p>
        </p:txBody>
      </p:sp>
      <p:sp>
        <p:nvSpPr>
          <p:cNvPr id="18" name="31-pins frame"/>
          <p:cNvSpPr/>
          <p:nvPr/>
        </p:nvSpPr>
        <p:spPr>
          <a:xfrm>
            <a:off x="9537192" y="1307592"/>
            <a:ext cx="2071658" cy="4334256"/>
          </a:xfrm>
          <a:prstGeom prst="roundRect">
            <a:avLst>
              <a:gd name="adj" fmla="val 9710"/>
            </a:avLst>
          </a:prstGeom>
          <a:solidFill>
            <a:schemeClr val="tx1"/>
          </a:solidFill>
          <a:ln/>
          <a:effectLst>
            <a:outerShdw sx="100000" sy="100000" kx="0" ky="0" algn="bl" rotWithShape="0" blurRad="76200" dist="25400" dir="5400000">
              <a:srgbClr val="141310">
                <a:alpha val="18000"/>
              </a:srgbClr>
            </a:outerShdw>
          </a:effectLst>
        </p:spPr>
      </p:sp>
      <p:pic>
        <p:nvPicPr>
          <p:cNvPr id="19" name="31-pins screen" descr="/private/tmp/claude-502/-Users-surya-Desktop-Hackathon-Team-cogniv8--F-/77fb1a42-404d-4abc-a9b4-2d62a58e4298/scratchpad/deck/img/31-pins.jpg">    </p:cNvPr>
          <p:cNvPicPr>
            <a:picLocks noChangeAspect="1"/>
          </p:cNvPicPr>
          <p:nvPr/>
        </p:nvPicPr>
        <p:blipFill>
          <a:blip r:embed="rId2"/>
          <a:stretch>
            <a:fillRect/>
          </a:stretch>
        </p:blipFill>
        <p:spPr>
          <a:xfrm>
            <a:off x="9601200" y="1371600"/>
            <a:ext cx="1943642" cy="4206240"/>
          </a:xfrm>
          <a:prstGeom prst="rect">
            <a:avLst/>
          </a:prstGeom>
        </p:spPr>
      </p:pic>
      <p:sp>
        <p:nvSpPr>
          <p:cNvPr id="20" name="31-pins caption"/>
          <p:cNvSpPr txBox="1"/>
          <p:nvPr/>
        </p:nvSpPr>
        <p:spPr>
          <a:xfrm>
            <a:off x="9326880" y="5715000"/>
            <a:ext cx="2492282" cy="457200"/>
          </a:xfrm>
          <a:prstGeom prst="rect">
            <a:avLst/>
          </a:prstGeom>
          <a:noFill/>
          <a:ln/>
        </p:spPr>
        <p:txBody>
          <a:bodyPr wrap="square" lIns="0" tIns="0" rIns="0" bIns="0" rtlCol="0" anchor="t"/>
          <a:lstStyle/>
          <a:p>
            <a:pPr algn="ctr" indent="0" marL="0">
              <a:buNone/>
            </a:pPr>
            <a:r>
              <a:rPr lang="en-US" sz="1200" dirty="0">
                <a:solidFill>
                  <a:schemeClr val="tx2"/>
                </a:solidFill>
              </a:rPr>
              <a:t>Pinboard</a:t>
            </a:r>
            <a:endParaRPr lang="en-US" sz="1200" dirty="0"/>
          </a:p>
        </p:txBody>
      </p:sp>
      <p:sp>
        <p:nvSpPr>
          <p:cNvPr id="21" name="chip Contents"/>
          <p:cNvSpPr/>
          <p:nvPr/>
        </p:nvSpPr>
        <p:spPr>
          <a:xfrm>
            <a:off x="10058400" y="6355080"/>
            <a:ext cx="1097280" cy="329184"/>
          </a:xfrm>
          <a:prstGeom prst="roundRect">
            <a:avLst>
              <a:gd name="adj" fmla="val 33333"/>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22" name="chip Contents label">
            <a:hlinkClick r:id="rId3" tooltip="Back to the contents" action="ppaction://hlinksldjump"/>
          </p:cNvPr>
          <p:cNvSpPr txBox="1"/>
          <p:nvPr/>
        </p:nvSpPr>
        <p:spPr>
          <a:xfrm>
            <a:off x="10058400" y="6355080"/>
            <a:ext cx="1097280" cy="329184"/>
          </a:xfrm>
          <a:prstGeom prst="rect">
            <a:avLst/>
          </a:prstGeom>
          <a:noFill/>
          <a:ln/>
        </p:spPr>
        <p:txBody>
          <a:bodyPr wrap="square" lIns="0" tIns="0" rIns="0" bIns="0" rtlCol="0" anchor="ctr"/>
          <a:lstStyle/>
          <a:p>
            <a:pPr algn="ctr" indent="0" marL="0">
              <a:buNone/>
            </a:pPr>
            <a:r>
              <a:rPr lang="en-US" sz="1000" b="1" u="sng" dirty="0">
                <a:solidFill>
                  <a:schemeClr val="tx1"/>
                </a:solidFill>
                <a:hlinkClick r:id="rId3" action="ppaction://hlinksldjump" tooltip="Back to the contents">
                  <a:extLst>
                    <a:ext uri="{A12FA001-AC4F-418D-AE19-62706E023703}">
                      <ahyp:hlinkClr xmlns:ahyp="http://schemas.microsoft.com/office/drawing/2018/hyperlinkcolor" val="tx"/>
                    </a:ext>
                  </a:extLst>
                </a:hlinkClick>
              </a:rPr>
              <a:t>Contents</a:t>
            </a:r>
            <a:endParaRPr lang="en-US" sz="10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058400" cy="822960"/>
          </a:xfrm>
          <a:prstGeom prst="rect">
            <a:avLst/>
          </a:prstGeom>
          <a:noFill/>
          <a:ln/>
        </p:spPr>
        <p:txBody>
          <a:bodyPr wrap="square" lIns="0" tIns="0" rIns="0" bIns="0" rtlCol="0" anchor="ctr"/>
          <a:lstStyle/>
          <a:p>
            <a:pPr algn="l" indent="0" marL="0">
              <a:buNone/>
            </a:pPr>
            <a:r>
              <a:rPr lang="en-US" sz="3000" b="1" dirty="0">
                <a:solidFill>
                  <a:schemeClr val="tx1"/>
                </a:solidFill>
              </a:rPr>
              <a:t>Under the hood: one API, every key stays on the server</a:t>
            </a:r>
            <a:endParaRPr lang="en-US" sz="3000" dirty="0"/>
          </a:p>
        </p:txBody>
      </p:sp>
      <p:sp>
        <p:nvSpPr>
          <p:cNvPr id="3" name="mobile box"/>
          <p:cNvSpPr/>
          <p:nvPr/>
        </p:nvSpPr>
        <p:spPr>
          <a:xfrm>
            <a:off x="548640" y="1554480"/>
            <a:ext cx="2926080" cy="1737360"/>
          </a:xfrm>
          <a:prstGeom prst="roundRect">
            <a:avLst>
              <a:gd name="adj" fmla="val 9474"/>
            </a:avLst>
          </a:prstGeom>
          <a:solidFill>
            <a:schemeClr val="accent1"/>
          </a:solidFill>
          <a:ln w="12700">
            <a:solidFill>
              <a:schemeClr val="accent1"/>
            </a:solidFill>
            <a:prstDash val="solid"/>
          </a:ln>
          <a:effectLst>
            <a:outerShdw sx="100000" sy="100000" kx="0" ky="0" algn="bl" rotWithShape="0" blurRad="76200" dist="25400" dir="5400000">
              <a:srgbClr val="141310">
                <a:alpha val="18000"/>
              </a:srgbClr>
            </a:outerShdw>
          </a:effectLst>
        </p:spPr>
      </p:sp>
      <p:sp>
        <p:nvSpPr>
          <p:cNvPr id="4" name="mobile box head"/>
          <p:cNvSpPr txBox="1"/>
          <p:nvPr/>
        </p:nvSpPr>
        <p:spPr>
          <a:xfrm>
            <a:off x="731520" y="1664208"/>
            <a:ext cx="2560320" cy="365760"/>
          </a:xfrm>
          <a:prstGeom prst="rect">
            <a:avLst/>
          </a:prstGeom>
          <a:noFill/>
          <a:ln/>
        </p:spPr>
        <p:txBody>
          <a:bodyPr wrap="square" lIns="0" tIns="0" rIns="0" bIns="0" rtlCol="0" anchor="ctr"/>
          <a:lstStyle/>
          <a:p>
            <a:pPr indent="0" marL="0">
              <a:buNone/>
            </a:pPr>
            <a:r>
              <a:rPr lang="en-US" sz="1500" b="1" dirty="0">
                <a:solidFill>
                  <a:schemeClr val="tx1"/>
                </a:solidFill>
              </a:rPr>
              <a:t>Mobile app</a:t>
            </a:r>
            <a:endParaRPr lang="en-US" sz="1500" dirty="0"/>
          </a:p>
        </p:txBody>
      </p:sp>
      <p:sp>
        <p:nvSpPr>
          <p:cNvPr id="5" name="mobile box body"/>
          <p:cNvSpPr txBox="1"/>
          <p:nvPr/>
        </p:nvSpPr>
        <p:spPr>
          <a:xfrm>
            <a:off x="731520" y="2057400"/>
            <a:ext cx="2560320" cy="1143000"/>
          </a:xfrm>
          <a:prstGeom prst="rect">
            <a:avLst/>
          </a:prstGeom>
          <a:noFill/>
          <a:ln/>
        </p:spPr>
        <p:txBody>
          <a:bodyPr wrap="square" lIns="0" tIns="0" rIns="0" bIns="0" rtlCol="0" anchor="t"/>
          <a:lstStyle/>
          <a:p>
            <a:pPr indent="0" marL="0">
              <a:buNone/>
            </a:pPr>
            <a:r>
              <a:rPr lang="en-US" sz="1200" dirty="0">
                <a:solidFill>
                  <a:schemeClr val="tx1"/>
                </a:solidFill>
              </a:rPr>
              <a:t>Expo SDK 57, React Native, Expo Router, TypeScript. Android APK via EAS; iPhone via Expo Go. Zine look: paper, yellow panels, stickers.</a:t>
            </a:r>
            <a:endParaRPr lang="en-US" sz="1200" dirty="0"/>
          </a:p>
        </p:txBody>
      </p:sp>
      <p:sp>
        <p:nvSpPr>
          <p:cNvPr id="6" name="shared box"/>
          <p:cNvSpPr/>
          <p:nvPr/>
        </p:nvSpPr>
        <p:spPr>
          <a:xfrm>
            <a:off x="548640" y="3749040"/>
            <a:ext cx="2926080" cy="1371600"/>
          </a:xfrm>
          <a:prstGeom prst="roundRect">
            <a:avLst>
              <a:gd name="adj" fmla="val 12000"/>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7" name="shared box head"/>
          <p:cNvSpPr txBox="1"/>
          <p:nvPr/>
        </p:nvSpPr>
        <p:spPr>
          <a:xfrm>
            <a:off x="731520" y="3858768"/>
            <a:ext cx="2560320" cy="365760"/>
          </a:xfrm>
          <a:prstGeom prst="rect">
            <a:avLst/>
          </a:prstGeom>
          <a:noFill/>
          <a:ln/>
        </p:spPr>
        <p:txBody>
          <a:bodyPr wrap="square" lIns="0" tIns="0" rIns="0" bIns="0" rtlCol="0" anchor="ctr"/>
          <a:lstStyle/>
          <a:p>
            <a:pPr indent="0" marL="0">
              <a:buNone/>
            </a:pPr>
            <a:r>
              <a:rPr lang="en-US" sz="1500" b="1" dirty="0">
                <a:solidFill>
                  <a:schemeClr val="tx1"/>
                </a:solidFill>
              </a:rPr>
              <a:t>Shared package</a:t>
            </a:r>
            <a:endParaRPr lang="en-US" sz="1500" dirty="0"/>
          </a:p>
        </p:txBody>
      </p:sp>
      <p:sp>
        <p:nvSpPr>
          <p:cNvPr id="8" name="shared box body"/>
          <p:cNvSpPr txBox="1"/>
          <p:nvPr/>
        </p:nvSpPr>
        <p:spPr>
          <a:xfrm>
            <a:off x="731520" y="4251960"/>
            <a:ext cx="2560320" cy="777240"/>
          </a:xfrm>
          <a:prstGeom prst="rect">
            <a:avLst/>
          </a:prstGeom>
          <a:noFill/>
          <a:ln/>
        </p:spPr>
        <p:txBody>
          <a:bodyPr wrap="square" lIns="0" tIns="0" rIns="0" bIns="0" rtlCol="0" anchor="t"/>
          <a:lstStyle/>
          <a:p>
            <a:pPr indent="0" marL="0">
              <a:buNone/>
            </a:pPr>
            <a:r>
              <a:rPr lang="en-US" sz="1200" dirty="0">
                <a:solidFill>
                  <a:schemeClr val="tx1"/>
                </a:solidFill>
              </a:rPr>
              <a:t>One request and response contract: types, zod schemas, art keys, voice parser.</a:t>
            </a:r>
            <a:endParaRPr lang="en-US" sz="1200" dirty="0"/>
          </a:p>
        </p:txBody>
      </p:sp>
      <p:sp>
        <p:nvSpPr>
          <p:cNvPr id="9" name="arrow app api"/>
          <p:cNvSpPr/>
          <p:nvPr/>
        </p:nvSpPr>
        <p:spPr>
          <a:xfrm>
            <a:off x="3474720" y="2423160"/>
            <a:ext cx="868680" cy="0"/>
          </a:xfrm>
          <a:prstGeom prst="line">
            <a:avLst/>
          </a:prstGeom>
          <a:noFill/>
          <a:ln w="25400">
            <a:solidFill>
              <a:schemeClr val="tx1"/>
            </a:solidFill>
            <a:prstDash val="solid"/>
            <a:tailEnd type="triangle"/>
          </a:ln>
        </p:spPr>
      </p:sp>
      <p:sp>
        <p:nvSpPr>
          <p:cNvPr id="10" name="api box"/>
          <p:cNvSpPr/>
          <p:nvPr/>
        </p:nvSpPr>
        <p:spPr>
          <a:xfrm>
            <a:off x="4343400" y="1554480"/>
            <a:ext cx="3291840" cy="356616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11" name="api box head"/>
          <p:cNvSpPr txBox="1"/>
          <p:nvPr/>
        </p:nvSpPr>
        <p:spPr>
          <a:xfrm>
            <a:off x="4526280" y="1664208"/>
            <a:ext cx="2926080" cy="365760"/>
          </a:xfrm>
          <a:prstGeom prst="rect">
            <a:avLst/>
          </a:prstGeom>
          <a:noFill/>
          <a:ln/>
        </p:spPr>
        <p:txBody>
          <a:bodyPr wrap="square" lIns="0" tIns="0" rIns="0" bIns="0" rtlCol="0" anchor="ctr"/>
          <a:lstStyle/>
          <a:p>
            <a:pPr indent="0" marL="0">
              <a:buNone/>
            </a:pPr>
            <a:r>
              <a:rPr lang="en-US" sz="1500" b="1" dirty="0">
                <a:solidFill>
                  <a:schemeClr val="tx1"/>
                </a:solidFill>
              </a:rPr>
              <a:t>API</a:t>
            </a:r>
            <a:endParaRPr lang="en-US" sz="1500" dirty="0"/>
          </a:p>
        </p:txBody>
      </p:sp>
      <p:sp>
        <p:nvSpPr>
          <p:cNvPr id="12" name="api box body"/>
          <p:cNvSpPr txBox="1"/>
          <p:nvPr/>
        </p:nvSpPr>
        <p:spPr>
          <a:xfrm>
            <a:off x="4526280" y="2057400"/>
            <a:ext cx="2926080" cy="2971800"/>
          </a:xfrm>
          <a:prstGeom prst="rect">
            <a:avLst/>
          </a:prstGeom>
          <a:noFill/>
          <a:ln/>
        </p:spPr>
        <p:txBody>
          <a:bodyPr wrap="square" lIns="0" tIns="0" rIns="0" bIns="0" rtlCol="0" anchor="t"/>
          <a:lstStyle/>
          <a:p>
            <a:pPr indent="0" marL="0">
              <a:buNone/>
            </a:pPr>
            <a:r>
              <a:rPr lang="en-US" sz="1200" dirty="0">
                <a:solidFill>
                  <a:schemeClr val="tx1"/>
                </a:solidFill>
              </a:rPr>
              <a:t>Node 24, Express 5, TypeScript.</a:t>
            </a:r>
            <a:endParaRPr lang="en-US" sz="1200" dirty="0"/>
          </a:p>
          <a:p>
            <a:pPr indent="0" marL="0">
              <a:buNone/>
            </a:pPr>
            <a:r>
              <a:rPr lang="en-US" sz="1200" dirty="0">
                <a:solidFill>
                  <a:schemeClr val="tx1"/>
                </a:solidFill>
              </a:rPr>
              <a:t>Routes: session, onboarding, issues, decks, chat (SSE), talk, learn, pins, auth.</a:t>
            </a:r>
            <a:endParaRPr lang="en-US" sz="1200" dirty="0"/>
          </a:p>
          <a:p>
            <a:pPr indent="0" marL="0">
              <a:buNone/>
            </a:pPr>
            <a:r>
              <a:rPr lang="en-US" sz="1200" dirty="0">
                <a:solidFill>
                  <a:schemeClr val="tx1"/>
                </a:solidFill>
              </a:rPr>
              <a:t>MongoDB Atlas via Mongoose: users, issues, decks, messages, pins, search cache.</a:t>
            </a:r>
            <a:endParaRPr lang="en-US" sz="1200" dirty="0"/>
          </a:p>
          <a:p>
            <a:pPr indent="0" marL="0">
              <a:buNone/>
            </a:pPr>
            <a:r>
              <a:rPr lang="en-US" sz="1200" dirty="0">
                <a:solidFill>
                  <a:schemeClr val="tx1"/>
                </a:solidFill>
              </a:rPr>
              <a:t>Hosted on Render from a blueprint.</a:t>
            </a:r>
            <a:endParaRPr lang="en-US" sz="1200" dirty="0"/>
          </a:p>
        </p:txBody>
      </p:sp>
      <p:sp>
        <p:nvSpPr>
          <p:cNvPr id="13" name="arrow api llm"/>
          <p:cNvSpPr/>
          <p:nvPr/>
        </p:nvSpPr>
        <p:spPr>
          <a:xfrm>
            <a:off x="7635240" y="2103120"/>
            <a:ext cx="868680" cy="0"/>
          </a:xfrm>
          <a:prstGeom prst="line">
            <a:avLst/>
          </a:prstGeom>
          <a:noFill/>
          <a:ln w="25400">
            <a:solidFill>
              <a:schemeClr val="tx1"/>
            </a:solidFill>
            <a:prstDash val="solid"/>
            <a:tailEnd type="triangle"/>
          </a:ln>
        </p:spPr>
      </p:sp>
      <p:sp>
        <p:nvSpPr>
          <p:cNvPr id="14" name="arrow api search"/>
          <p:cNvSpPr/>
          <p:nvPr/>
        </p:nvSpPr>
        <p:spPr>
          <a:xfrm>
            <a:off x="7635240" y="3657600"/>
            <a:ext cx="868680" cy="0"/>
          </a:xfrm>
          <a:prstGeom prst="line">
            <a:avLst/>
          </a:prstGeom>
          <a:noFill/>
          <a:ln w="25400">
            <a:solidFill>
              <a:schemeClr val="tx1"/>
            </a:solidFill>
            <a:prstDash val="solid"/>
            <a:tailEnd type="triangle"/>
          </a:ln>
        </p:spPr>
      </p:sp>
      <p:sp>
        <p:nvSpPr>
          <p:cNvPr id="15" name="llm box"/>
          <p:cNvSpPr/>
          <p:nvPr/>
        </p:nvSpPr>
        <p:spPr>
          <a:xfrm>
            <a:off x="8503920" y="1554480"/>
            <a:ext cx="3154680" cy="1737360"/>
          </a:xfrm>
          <a:prstGeom prst="roundRect">
            <a:avLst>
              <a:gd name="adj" fmla="val 9474"/>
            </a:avLst>
          </a:prstGeom>
          <a:solidFill>
            <a:schemeClr val="accent1"/>
          </a:solidFill>
          <a:ln w="12700">
            <a:solidFill>
              <a:schemeClr val="accent1"/>
            </a:solidFill>
            <a:prstDash val="solid"/>
          </a:ln>
          <a:effectLst>
            <a:outerShdw sx="100000" sy="100000" kx="0" ky="0" algn="bl" rotWithShape="0" blurRad="76200" dist="25400" dir="5400000">
              <a:srgbClr val="141310">
                <a:alpha val="18000"/>
              </a:srgbClr>
            </a:outerShdw>
          </a:effectLst>
        </p:spPr>
      </p:sp>
      <p:sp>
        <p:nvSpPr>
          <p:cNvPr id="16" name="llm box head"/>
          <p:cNvSpPr txBox="1"/>
          <p:nvPr/>
        </p:nvSpPr>
        <p:spPr>
          <a:xfrm>
            <a:off x="8686800" y="1664208"/>
            <a:ext cx="2788920" cy="365760"/>
          </a:xfrm>
          <a:prstGeom prst="rect">
            <a:avLst/>
          </a:prstGeom>
          <a:noFill/>
          <a:ln/>
        </p:spPr>
        <p:txBody>
          <a:bodyPr wrap="square" lIns="0" tIns="0" rIns="0" bIns="0" rtlCol="0" anchor="ctr"/>
          <a:lstStyle/>
          <a:p>
            <a:pPr indent="0" marL="0">
              <a:buNone/>
            </a:pPr>
            <a:r>
              <a:rPr lang="en-US" sz="1500" b="1" dirty="0">
                <a:solidFill>
                  <a:schemeClr val="tx1"/>
                </a:solidFill>
              </a:rPr>
              <a:t>Models, in order</a:t>
            </a:r>
            <a:endParaRPr lang="en-US" sz="1500" dirty="0"/>
          </a:p>
        </p:txBody>
      </p:sp>
      <p:sp>
        <p:nvSpPr>
          <p:cNvPr id="17" name="llm box body"/>
          <p:cNvSpPr txBox="1"/>
          <p:nvPr/>
        </p:nvSpPr>
        <p:spPr>
          <a:xfrm>
            <a:off x="8686800" y="2057400"/>
            <a:ext cx="2788920" cy="1143000"/>
          </a:xfrm>
          <a:prstGeom prst="rect">
            <a:avLst/>
          </a:prstGeom>
          <a:noFill/>
          <a:ln/>
        </p:spPr>
        <p:txBody>
          <a:bodyPr wrap="square" lIns="0" tIns="0" rIns="0" bIns="0" rtlCol="0" anchor="t"/>
          <a:lstStyle/>
          <a:p>
            <a:pPr indent="0" marL="0">
              <a:buNone/>
            </a:pPr>
            <a:r>
              <a:rPr lang="en-US" sz="1200" dirty="0">
                <a:solidFill>
                  <a:schemeClr val="tx1"/>
                </a:solidFill>
              </a:rPr>
              <a:t>Groq gpt-oss-120b first, Gemini 3.8 Flash and 3.5 Flash-Lite next, with key pools that rotate on a rate limit. Labelled demo answer last.</a:t>
            </a:r>
            <a:endParaRPr lang="en-US" sz="1200" dirty="0"/>
          </a:p>
        </p:txBody>
      </p:sp>
      <p:sp>
        <p:nvSpPr>
          <p:cNvPr id="18" name="search box"/>
          <p:cNvSpPr/>
          <p:nvPr/>
        </p:nvSpPr>
        <p:spPr>
          <a:xfrm>
            <a:off x="8503920" y="3474720"/>
            <a:ext cx="3154680" cy="1645920"/>
          </a:xfrm>
          <a:prstGeom prst="roundRect">
            <a:avLst>
              <a:gd name="adj" fmla="val 10000"/>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19" name="search box head"/>
          <p:cNvSpPr txBox="1"/>
          <p:nvPr/>
        </p:nvSpPr>
        <p:spPr>
          <a:xfrm>
            <a:off x="8686800" y="3584448"/>
            <a:ext cx="2788920" cy="365760"/>
          </a:xfrm>
          <a:prstGeom prst="rect">
            <a:avLst/>
          </a:prstGeom>
          <a:noFill/>
          <a:ln/>
        </p:spPr>
        <p:txBody>
          <a:bodyPr wrap="square" lIns="0" tIns="0" rIns="0" bIns="0" rtlCol="0" anchor="ctr"/>
          <a:lstStyle/>
          <a:p>
            <a:pPr indent="0" marL="0">
              <a:buNone/>
            </a:pPr>
            <a:r>
              <a:rPr lang="en-US" sz="1500" b="1" dirty="0">
                <a:solidFill>
                  <a:schemeClr val="tx1"/>
                </a:solidFill>
              </a:rPr>
              <a:t>Search and voice</a:t>
            </a:r>
            <a:endParaRPr lang="en-US" sz="1500" dirty="0"/>
          </a:p>
        </p:txBody>
      </p:sp>
      <p:sp>
        <p:nvSpPr>
          <p:cNvPr id="20" name="search box body"/>
          <p:cNvSpPr txBox="1"/>
          <p:nvPr/>
        </p:nvSpPr>
        <p:spPr>
          <a:xfrm>
            <a:off x="8686800" y="3977640"/>
            <a:ext cx="2788920" cy="1051560"/>
          </a:xfrm>
          <a:prstGeom prst="rect">
            <a:avLst/>
          </a:prstGeom>
          <a:noFill/>
          <a:ln/>
        </p:spPr>
        <p:txBody>
          <a:bodyPr wrap="square" lIns="0" tIns="0" rIns="0" bIns="0" rtlCol="0" anchor="t"/>
          <a:lstStyle/>
          <a:p>
            <a:pPr indent="0" marL="0">
              <a:buNone/>
            </a:pPr>
            <a:r>
              <a:rPr lang="en-US" sz="1200" dirty="0">
                <a:solidFill>
                  <a:schemeClr val="tx1"/>
                </a:solidFill>
              </a:rPr>
              <a:t>Tavily for live web search, cached six hours. Groq Whisper for speech to text when the phone has none.</a:t>
            </a:r>
            <a:endParaRPr lang="en-US" sz="1200" dirty="0"/>
          </a:p>
        </p:txBody>
      </p:sp>
      <p:sp>
        <p:nvSpPr>
          <p:cNvPr id="21" name="tech note"/>
          <p:cNvSpPr txBox="1"/>
          <p:nvPr/>
        </p:nvSpPr>
        <p:spPr>
          <a:xfrm>
            <a:off x="548640" y="5349240"/>
            <a:ext cx="11064240" cy="822960"/>
          </a:xfrm>
          <a:prstGeom prst="rect">
            <a:avLst/>
          </a:prstGeom>
          <a:noFill/>
          <a:ln/>
        </p:spPr>
        <p:txBody>
          <a:bodyPr wrap="square" lIns="0" tIns="0" rIns="0" bIns="0" rtlCol="0" anchor="t"/>
          <a:lstStyle/>
          <a:p>
            <a:pPr indent="0" marL="0">
              <a:buNone/>
            </a:pPr>
            <a:r>
              <a:rPr lang="en-US" sz="1300" i="1" dirty="0">
                <a:solidFill>
                  <a:schemeClr val="tx2"/>
                </a:solidFill>
              </a:rPr>
              <a:t>Design choices that protect the demo: onboarding and Talk are server-driven so the model cannot wander; the quiz is one structured-output call; DEMO_MODE keeps the journey working with no keys at all.</a:t>
            </a:r>
            <a:endParaRPr lang="en-US" sz="1300" dirty="0"/>
          </a:p>
        </p:txBody>
      </p:sp>
      <p:sp>
        <p:nvSpPr>
          <p:cNvPr id="22" name="chip Contents"/>
          <p:cNvSpPr/>
          <p:nvPr/>
        </p:nvSpPr>
        <p:spPr>
          <a:xfrm>
            <a:off x="10058400" y="6355080"/>
            <a:ext cx="1097280" cy="329184"/>
          </a:xfrm>
          <a:prstGeom prst="roundRect">
            <a:avLst>
              <a:gd name="adj" fmla="val 33333"/>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23" name="chip Contents label">
            <a:hlinkClick r:id="rId1" tooltip="Back to the contents" action="ppaction://hlinksldjump"/>
          </p:cNvPr>
          <p:cNvSpPr txBox="1"/>
          <p:nvPr/>
        </p:nvSpPr>
        <p:spPr>
          <a:xfrm>
            <a:off x="10058400" y="6355080"/>
            <a:ext cx="1097280" cy="329184"/>
          </a:xfrm>
          <a:prstGeom prst="rect">
            <a:avLst/>
          </a:prstGeom>
          <a:noFill/>
          <a:ln/>
        </p:spPr>
        <p:txBody>
          <a:bodyPr wrap="square" lIns="0" tIns="0" rIns="0" bIns="0" rtlCol="0" anchor="ctr"/>
          <a:lstStyle/>
          <a:p>
            <a:pPr algn="ctr" indent="0" marL="0">
              <a:buNone/>
            </a:pPr>
            <a:r>
              <a:rPr lang="en-US" sz="1000" b="1" u="sng" dirty="0">
                <a:solidFill>
                  <a:schemeClr val="tx1"/>
                </a:solidFill>
                <a:hlinkClick r:id="rId1" action="ppaction://hlinksldjump" tooltip="Back to the contents">
                  <a:extLst>
                    <a:ext uri="{A12FA001-AC4F-418D-AE19-62706E023703}">
                      <ahyp:hlinkClr xmlns:ahyp="http://schemas.microsoft.com/office/drawing/2018/hyperlinkcolor" val="tx"/>
                    </a:ext>
                  </a:extLst>
                </a:hlinkClick>
              </a:rPr>
              <a:t>Contents</a:t>
            </a:r>
            <a:endParaRPr lang="en-US" sz="10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058400" cy="822960"/>
          </a:xfrm>
          <a:prstGeom prst="rect">
            <a:avLst/>
          </a:prstGeom>
          <a:noFill/>
          <a:ln/>
        </p:spPr>
        <p:txBody>
          <a:bodyPr wrap="square" lIns="0" tIns="0" rIns="0" bIns="0" rtlCol="0" anchor="ctr"/>
          <a:lstStyle/>
          <a:p>
            <a:pPr algn="l" indent="0" marL="0">
              <a:buNone/>
            </a:pPr>
            <a:r>
              <a:rPr lang="en-US" sz="3000" b="1" dirty="0">
                <a:solidFill>
                  <a:schemeClr val="tx1"/>
                </a:solidFill>
              </a:rPr>
              <a:t>Why it is a business</a:t>
            </a:r>
            <a:endParaRPr lang="en-US" sz="3000" dirty="0"/>
          </a:p>
        </p:txBody>
      </p:sp>
      <p:sp>
        <p:nvSpPr>
          <p:cNvPr id="3" name="biz Use case"/>
          <p:cNvSpPr/>
          <p:nvPr/>
        </p:nvSpPr>
        <p:spPr>
          <a:xfrm>
            <a:off x="548640" y="1417320"/>
            <a:ext cx="3520440" cy="4206240"/>
          </a:xfrm>
          <a:prstGeom prst="roundRect">
            <a:avLst>
              <a:gd name="adj" fmla="val 4675"/>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4" name="biz Use case head"/>
          <p:cNvSpPr txBox="1"/>
          <p:nvPr/>
        </p:nvSpPr>
        <p:spPr>
          <a:xfrm>
            <a:off x="822960" y="1645920"/>
            <a:ext cx="2971800" cy="457200"/>
          </a:xfrm>
          <a:prstGeom prst="rect">
            <a:avLst/>
          </a:prstGeom>
          <a:noFill/>
          <a:ln/>
        </p:spPr>
        <p:txBody>
          <a:bodyPr wrap="square" lIns="0" tIns="0" rIns="0" bIns="0" rtlCol="0" anchor="ctr"/>
          <a:lstStyle/>
          <a:p>
            <a:pPr indent="0" marL="0">
              <a:buNone/>
            </a:pPr>
            <a:r>
              <a:rPr lang="en-US" sz="2000" b="1" dirty="0">
                <a:solidFill>
                  <a:schemeClr val="tx1"/>
                </a:solidFill>
              </a:rPr>
              <a:t>Use case</a:t>
            </a:r>
            <a:endParaRPr lang="en-US" sz="2000" dirty="0"/>
          </a:p>
        </p:txBody>
      </p:sp>
      <p:sp>
        <p:nvSpPr>
          <p:cNvPr id="5" name="biz Use case bullets"/>
          <p:cNvSpPr txBox="1"/>
          <p:nvPr/>
        </p:nvSpPr>
        <p:spPr>
          <a:xfrm>
            <a:off x="822960" y="2240280"/>
            <a:ext cx="2971800" cy="320040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chemeClr val="tx1"/>
                </a:solidFill>
              </a:rPr>
              <a:t>Students and working professionals who follow a few topics and want to understand them, not scroll them</a:t>
            </a:r>
            <a:endParaRPr lang="en-US" sz="1300" dirty="0"/>
          </a:p>
          <a:p>
            <a:pPr marL="177800" indent="-177800">
              <a:spcAft>
                <a:spcPts val="900"/>
              </a:spcAft>
              <a:buSzPct val="100000"/>
              <a:buChar char="•"/>
            </a:pPr>
            <a:r>
              <a:rPr lang="en-US" sz="1300" dirty="0">
                <a:solidFill>
                  <a:schemeClr val="tx1"/>
                </a:solidFill>
              </a:rPr>
              <a:t>Ten minutes a day, on the phone, hands-free on a commute</a:t>
            </a:r>
            <a:endParaRPr lang="en-US" sz="1300" dirty="0"/>
          </a:p>
          <a:p>
            <a:pPr marL="177800" indent="-177800">
              <a:spcAft>
                <a:spcPts val="900"/>
              </a:spcAft>
              <a:buSzPct val="100000"/>
              <a:buChar char="•"/>
            </a:pPr>
            <a:r>
              <a:rPr lang="en-US" sz="1300" dirty="0">
                <a:solidFill>
                  <a:schemeClr val="tx1"/>
                </a:solidFill>
              </a:rPr>
              <a:t>Teams that need everyone current on a fast-moving field</a:t>
            </a:r>
            <a:endParaRPr lang="en-US" sz="1300" dirty="0"/>
          </a:p>
        </p:txBody>
      </p:sp>
      <p:sp>
        <p:nvSpPr>
          <p:cNvPr id="6" name="biz Go-to-market"/>
          <p:cNvSpPr/>
          <p:nvPr/>
        </p:nvSpPr>
        <p:spPr>
          <a:xfrm>
            <a:off x="4297680" y="1417320"/>
            <a:ext cx="3520440" cy="4206240"/>
          </a:xfrm>
          <a:prstGeom prst="roundRect">
            <a:avLst>
              <a:gd name="adj" fmla="val 4675"/>
            </a:avLst>
          </a:prstGeom>
          <a:solidFill>
            <a:schemeClr val="accent1"/>
          </a:solidFill>
          <a:ln w="12700">
            <a:solidFill>
              <a:schemeClr val="accent1"/>
            </a:solidFill>
            <a:prstDash val="solid"/>
          </a:ln>
          <a:effectLst>
            <a:outerShdw sx="100000" sy="100000" kx="0" ky="0" algn="bl" rotWithShape="0" blurRad="76200" dist="25400" dir="5400000">
              <a:srgbClr val="141310">
                <a:alpha val="18000"/>
              </a:srgbClr>
            </a:outerShdw>
          </a:effectLst>
        </p:spPr>
      </p:sp>
      <p:sp>
        <p:nvSpPr>
          <p:cNvPr id="7" name="biz Go-to-market head"/>
          <p:cNvSpPr txBox="1"/>
          <p:nvPr/>
        </p:nvSpPr>
        <p:spPr>
          <a:xfrm>
            <a:off x="4572000" y="1645920"/>
            <a:ext cx="2971800" cy="457200"/>
          </a:xfrm>
          <a:prstGeom prst="rect">
            <a:avLst/>
          </a:prstGeom>
          <a:noFill/>
          <a:ln/>
        </p:spPr>
        <p:txBody>
          <a:bodyPr wrap="square" lIns="0" tIns="0" rIns="0" bIns="0" rtlCol="0" anchor="ctr"/>
          <a:lstStyle/>
          <a:p>
            <a:pPr indent="0" marL="0">
              <a:buNone/>
            </a:pPr>
            <a:r>
              <a:rPr lang="en-US" sz="2000" b="1" dirty="0">
                <a:solidFill>
                  <a:schemeClr val="tx1"/>
                </a:solidFill>
              </a:rPr>
              <a:t>Go-to-market</a:t>
            </a:r>
            <a:endParaRPr lang="en-US" sz="2000" dirty="0"/>
          </a:p>
        </p:txBody>
      </p:sp>
      <p:sp>
        <p:nvSpPr>
          <p:cNvPr id="8" name="biz Go-to-market bullets"/>
          <p:cNvSpPr txBox="1"/>
          <p:nvPr/>
        </p:nvSpPr>
        <p:spPr>
          <a:xfrm>
            <a:off x="4572000" y="2240280"/>
            <a:ext cx="2971800" cy="320040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chemeClr val="tx1"/>
                </a:solidFill>
              </a:rPr>
              <a:t>Start with communities around a topic, such as cricket, space and AI, where a daily issue spreads by sharing</a:t>
            </a:r>
            <a:endParaRPr lang="en-US" sz="1300" dirty="0"/>
          </a:p>
          <a:p>
            <a:pPr marL="177800" indent="-177800">
              <a:spcAft>
                <a:spcPts val="900"/>
              </a:spcAft>
              <a:buSzPct val="100000"/>
              <a:buChar char="•"/>
            </a:pPr>
            <a:r>
              <a:rPr lang="en-US" sz="1300" dirty="0">
                <a:solidFill>
                  <a:schemeClr val="tx1"/>
                </a:solidFill>
              </a:rPr>
              <a:t>App stores plus a web link that works with no sign-up</a:t>
            </a:r>
            <a:endParaRPr lang="en-US" sz="1300" dirty="0"/>
          </a:p>
          <a:p>
            <a:pPr marL="177800" indent="-177800">
              <a:spcAft>
                <a:spcPts val="900"/>
              </a:spcAft>
              <a:buSzPct val="100000"/>
              <a:buChar char="•"/>
            </a:pPr>
            <a:r>
              <a:rPr lang="en-US" sz="1300" dirty="0">
                <a:solidFill>
                  <a:schemeClr val="tx1"/>
                </a:solidFill>
              </a:rPr>
              <a:t>Partner with newsletters and creators: their feed becomes an issue</a:t>
            </a:r>
            <a:endParaRPr lang="en-US" sz="1300" dirty="0"/>
          </a:p>
        </p:txBody>
      </p:sp>
      <p:sp>
        <p:nvSpPr>
          <p:cNvPr id="9" name="biz Business plan"/>
          <p:cNvSpPr/>
          <p:nvPr/>
        </p:nvSpPr>
        <p:spPr>
          <a:xfrm>
            <a:off x="8046720" y="1417320"/>
            <a:ext cx="3520440" cy="4206240"/>
          </a:xfrm>
          <a:prstGeom prst="roundRect">
            <a:avLst>
              <a:gd name="adj" fmla="val 4675"/>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10" name="biz Business plan head"/>
          <p:cNvSpPr txBox="1"/>
          <p:nvPr/>
        </p:nvSpPr>
        <p:spPr>
          <a:xfrm>
            <a:off x="8321040" y="1645920"/>
            <a:ext cx="2971800" cy="457200"/>
          </a:xfrm>
          <a:prstGeom prst="rect">
            <a:avLst/>
          </a:prstGeom>
          <a:noFill/>
          <a:ln/>
        </p:spPr>
        <p:txBody>
          <a:bodyPr wrap="square" lIns="0" tIns="0" rIns="0" bIns="0" rtlCol="0" anchor="ctr"/>
          <a:lstStyle/>
          <a:p>
            <a:pPr indent="0" marL="0">
              <a:buNone/>
            </a:pPr>
            <a:r>
              <a:rPr lang="en-US" sz="2000" b="1" dirty="0">
                <a:solidFill>
                  <a:schemeClr val="tx1"/>
                </a:solidFill>
              </a:rPr>
              <a:t>Business plan</a:t>
            </a:r>
            <a:endParaRPr lang="en-US" sz="2000" dirty="0"/>
          </a:p>
        </p:txBody>
      </p:sp>
      <p:sp>
        <p:nvSpPr>
          <p:cNvPr id="11" name="biz Business plan bullets"/>
          <p:cNvSpPr txBox="1"/>
          <p:nvPr/>
        </p:nvSpPr>
        <p:spPr>
          <a:xfrm>
            <a:off x="8321040" y="2240280"/>
            <a:ext cx="2971800" cy="320040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chemeClr val="tx1"/>
                </a:solidFill>
              </a:rPr>
              <a:t>Free: one daily issue and Ask</a:t>
            </a:r>
            <a:endParaRPr lang="en-US" sz="1300" dirty="0"/>
          </a:p>
          <a:p>
            <a:pPr marL="177800" indent="-177800">
              <a:spcAft>
                <a:spcPts val="900"/>
              </a:spcAft>
              <a:buSzPct val="100000"/>
              <a:buChar char="•"/>
            </a:pPr>
            <a:r>
              <a:rPr lang="en-US" sz="1300" dirty="0">
                <a:solidFill>
                  <a:schemeClr val="tx1"/>
                </a:solidFill>
              </a:rPr>
              <a:t>Plus: unlimited Talk, podcasts and back issues, as a monthly subscription</a:t>
            </a:r>
            <a:endParaRPr lang="en-US" sz="1300" dirty="0"/>
          </a:p>
          <a:p>
            <a:pPr marL="177800" indent="-177800">
              <a:spcAft>
                <a:spcPts val="900"/>
              </a:spcAft>
              <a:buSzPct val="100000"/>
              <a:buChar char="•"/>
            </a:pPr>
            <a:r>
              <a:rPr lang="en-US" sz="1300" dirty="0">
                <a:solidFill>
                  <a:schemeClr val="tx1"/>
                </a:solidFill>
              </a:rPr>
              <a:t>Teams: a shared issue for a company or classroom, priced per seat</a:t>
            </a:r>
            <a:endParaRPr lang="en-US" sz="1300" dirty="0"/>
          </a:p>
          <a:p>
            <a:pPr marL="177800" indent="-177800">
              <a:spcAft>
                <a:spcPts val="900"/>
              </a:spcAft>
              <a:buSzPct val="100000"/>
              <a:buChar char="•"/>
            </a:pPr>
            <a:r>
              <a:rPr lang="en-US" sz="1300" dirty="0">
                <a:solidFill>
                  <a:schemeClr val="tx1"/>
                </a:solidFill>
              </a:rPr>
              <a:t>Runs on free API tiers today; paid tiers of the same APIs scale with usage</a:t>
            </a:r>
            <a:endParaRPr lang="en-US" sz="1300" dirty="0"/>
          </a:p>
        </p:txBody>
      </p:sp>
      <p:sp>
        <p:nvSpPr>
          <p:cNvPr id="12" name="risks"/>
          <p:cNvSpPr txBox="1"/>
          <p:nvPr/>
        </p:nvSpPr>
        <p:spPr>
          <a:xfrm>
            <a:off x="548640" y="5760720"/>
            <a:ext cx="11064240" cy="548640"/>
          </a:xfrm>
          <a:prstGeom prst="rect">
            <a:avLst/>
          </a:prstGeom>
          <a:noFill/>
          <a:ln/>
        </p:spPr>
        <p:txBody>
          <a:bodyPr wrap="square" lIns="0" tIns="0" rIns="0" bIns="0" rtlCol="0" anchor="ctr"/>
          <a:lstStyle/>
          <a:p>
            <a:pPr indent="0" marL="0">
              <a:buNone/>
            </a:pPr>
            <a:r>
              <a:rPr lang="en-US" sz="1200" i="1" dirty="0">
                <a:solidFill>
                  <a:schemeClr val="tx2"/>
                </a:solidFill>
              </a:rPr>
              <a:t>Risks we watch: API rate limits (key pools and a provider chain), content accuracy (every claim links to its source), and privacy (the profile is a few hundred tokens, stored only for the reader).</a:t>
            </a:r>
            <a:endParaRPr lang="en-US" sz="1200" dirty="0"/>
          </a:p>
        </p:txBody>
      </p:sp>
      <p:sp>
        <p:nvSpPr>
          <p:cNvPr id="13" name="chip Contents"/>
          <p:cNvSpPr/>
          <p:nvPr/>
        </p:nvSpPr>
        <p:spPr>
          <a:xfrm>
            <a:off x="10058400" y="6355080"/>
            <a:ext cx="1097280" cy="329184"/>
          </a:xfrm>
          <a:prstGeom prst="roundRect">
            <a:avLst>
              <a:gd name="adj" fmla="val 33333"/>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14" name="chip Contents label">
            <a:hlinkClick r:id="rId1" tooltip="Back to the contents" action="ppaction://hlinksldjump"/>
          </p:cNvPr>
          <p:cNvSpPr txBox="1"/>
          <p:nvPr/>
        </p:nvSpPr>
        <p:spPr>
          <a:xfrm>
            <a:off x="10058400" y="6355080"/>
            <a:ext cx="1097280" cy="329184"/>
          </a:xfrm>
          <a:prstGeom prst="rect">
            <a:avLst/>
          </a:prstGeom>
          <a:noFill/>
          <a:ln/>
        </p:spPr>
        <p:txBody>
          <a:bodyPr wrap="square" lIns="0" tIns="0" rIns="0" bIns="0" rtlCol="0" anchor="ctr"/>
          <a:lstStyle/>
          <a:p>
            <a:pPr algn="ctr" indent="0" marL="0">
              <a:buNone/>
            </a:pPr>
            <a:r>
              <a:rPr lang="en-US" sz="1000" b="1" u="sng" dirty="0">
                <a:solidFill>
                  <a:schemeClr val="tx1"/>
                </a:solidFill>
                <a:hlinkClick r:id="rId1" action="ppaction://hlinksldjump" tooltip="Back to the contents">
                  <a:extLst>
                    <a:ext uri="{A12FA001-AC4F-418D-AE19-62706E023703}">
                      <ahyp:hlinkClr xmlns:ahyp="http://schemas.microsoft.com/office/drawing/2018/hyperlinkcolor" val="tx"/>
                    </a:ext>
                  </a:extLst>
                </a:hlinkClick>
              </a:rPr>
              <a:t>Contents</a:t>
            </a:r>
            <a:endParaRPr lang="en-US" sz="10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058400" cy="822960"/>
          </a:xfrm>
          <a:prstGeom prst="rect">
            <a:avLst/>
          </a:prstGeom>
          <a:noFill/>
          <a:ln/>
        </p:spPr>
        <p:txBody>
          <a:bodyPr wrap="square" lIns="0" tIns="0" rIns="0" bIns="0" rtlCol="0" anchor="ctr"/>
          <a:lstStyle/>
          <a:p>
            <a:pPr algn="l" indent="0" marL="0">
              <a:buNone/>
            </a:pPr>
            <a:r>
              <a:rPr lang="en-US" sz="3000" b="1" dirty="0">
                <a:solidFill>
                  <a:schemeClr val="tx1"/>
                </a:solidFill>
              </a:rPr>
              <a:t>Built in the hackathon, and what comes next</a:t>
            </a:r>
            <a:endParaRPr lang="en-US" sz="3000" dirty="0"/>
          </a:p>
        </p:txBody>
      </p:sp>
      <p:sp>
        <p:nvSpPr>
          <p:cNvPr id="3" name="built panel"/>
          <p:cNvSpPr/>
          <p:nvPr/>
        </p:nvSpPr>
        <p:spPr>
          <a:xfrm>
            <a:off x="548640" y="1417320"/>
            <a:ext cx="5760720" cy="4663440"/>
          </a:xfrm>
          <a:prstGeom prst="roundRect">
            <a:avLst>
              <a:gd name="adj" fmla="val 3529"/>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4" name="built head"/>
          <p:cNvSpPr txBox="1"/>
          <p:nvPr/>
        </p:nvSpPr>
        <p:spPr>
          <a:xfrm>
            <a:off x="822960" y="1554480"/>
            <a:ext cx="5303520" cy="411480"/>
          </a:xfrm>
          <a:prstGeom prst="rect">
            <a:avLst/>
          </a:prstGeom>
          <a:noFill/>
          <a:ln/>
        </p:spPr>
        <p:txBody>
          <a:bodyPr wrap="square" lIns="0" tIns="0" rIns="0" bIns="0" rtlCol="0" anchor="ctr"/>
          <a:lstStyle/>
          <a:p>
            <a:pPr indent="0" marL="0">
              <a:buNone/>
            </a:pPr>
            <a:r>
              <a:rPr lang="en-US" sz="1800" b="1" dirty="0">
                <a:solidFill>
                  <a:schemeClr val="tx1"/>
                </a:solidFill>
              </a:rPr>
              <a:t>Working today</a:t>
            </a:r>
            <a:endParaRPr lang="en-US" sz="1800" dirty="0"/>
          </a:p>
        </p:txBody>
      </p:sp>
      <p:sp>
        <p:nvSpPr>
          <p:cNvPr id="5" name="built bullets"/>
          <p:cNvSpPr txBox="1"/>
          <p:nvPr/>
        </p:nvSpPr>
        <p:spPr>
          <a:xfrm>
            <a:off x="822960" y="2057400"/>
            <a:ext cx="5303520" cy="393192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rPr>
              <a:t>Opening, five-question reader card, daily issue with a featured carousel of five</a:t>
            </a:r>
            <a:endParaRPr lang="en-US" sz="1400" dirty="0"/>
          </a:p>
          <a:p>
            <a:pPr marL="177800" indent="-177800">
              <a:spcAft>
                <a:spcPts val="900"/>
              </a:spcAft>
              <a:buSzPct val="100000"/>
              <a:buChar char="•"/>
            </a:pPr>
            <a:r>
              <a:rPr lang="en-US" sz="1400" dirty="0">
                <a:solidFill>
                  <a:schemeClr val="tx1"/>
                </a:solidFill>
              </a:rPr>
              <a:t>Nine-card lead decks, interest decks, related topics and a discover mode for new readers</a:t>
            </a:r>
            <a:endParaRPr lang="en-US" sz="1400" dirty="0"/>
          </a:p>
          <a:p>
            <a:pPr marL="177800" indent="-177800">
              <a:spcAft>
                <a:spcPts val="900"/>
              </a:spcAft>
              <a:buSzPct val="100000"/>
              <a:buChar char="•"/>
            </a:pPr>
            <a:r>
              <a:rPr lang="en-US" sz="1400" dirty="0">
                <a:solidFill>
                  <a:schemeClr val="tx1"/>
                </a:solidFill>
              </a:rPr>
              <a:t>Quiz, teach it back with marking, sources, summary podcast, YouTube watch cards</a:t>
            </a:r>
            <a:endParaRPr lang="en-US" sz="1400" dirty="0"/>
          </a:p>
          <a:p>
            <a:pPr marL="177800" indent="-177800">
              <a:spcAft>
                <a:spcPts val="900"/>
              </a:spcAft>
              <a:buSzPct val="100000"/>
              <a:buChar char="•"/>
            </a:pPr>
            <a:r>
              <a:rPr lang="en-US" sz="1400" dirty="0">
                <a:solidFill>
                  <a:schemeClr val="tx1"/>
                </a:solidFill>
              </a:rPr>
              <a:t>Talk mode with three voices, interest scoring and back issues</a:t>
            </a:r>
            <a:endParaRPr lang="en-US" sz="1400" dirty="0"/>
          </a:p>
          <a:p>
            <a:pPr marL="177800" indent="-177800">
              <a:spcAft>
                <a:spcPts val="900"/>
              </a:spcAft>
              <a:buSzPct val="100000"/>
              <a:buChar char="•"/>
            </a:pPr>
            <a:r>
              <a:rPr lang="en-US" sz="1400" dirty="0">
                <a:solidFill>
                  <a:schemeClr val="tx1"/>
                </a:solidFill>
              </a:rPr>
              <a:t>Ask with streamed, cited answers and five learn actions</a:t>
            </a:r>
            <a:endParaRPr lang="en-US" sz="1400" dirty="0"/>
          </a:p>
          <a:p>
            <a:pPr marL="177800" indent="-177800">
              <a:spcAft>
                <a:spcPts val="900"/>
              </a:spcAft>
              <a:buSzPct val="100000"/>
              <a:buChar char="•"/>
            </a:pPr>
            <a:r>
              <a:rPr lang="en-US" sz="1400" dirty="0">
                <a:solidFill>
                  <a:schemeClr val="tx1"/>
                </a:solidFill>
              </a:rPr>
              <a:t>Optional accounts, pins per account, profile photo and reading stats</a:t>
            </a:r>
            <a:endParaRPr lang="en-US" sz="1400" dirty="0"/>
          </a:p>
          <a:p>
            <a:pPr marL="177800" indent="-177800">
              <a:spcAft>
                <a:spcPts val="900"/>
              </a:spcAft>
              <a:buSzPct val="100000"/>
              <a:buChar char="•"/>
            </a:pPr>
            <a:r>
              <a:rPr lang="en-US" sz="1400" dirty="0">
                <a:solidFill>
                  <a:schemeClr val="tx1"/>
                </a:solidFill>
              </a:rPr>
              <a:t>Provider chain with key pools, demo mode, smoke tests, typecheck</a:t>
            </a:r>
            <a:endParaRPr lang="en-US" sz="1400" dirty="0"/>
          </a:p>
          <a:p>
            <a:pPr marL="177800" indent="-177800">
              <a:spcAft>
                <a:spcPts val="900"/>
              </a:spcAft>
              <a:buSzPct val="100000"/>
              <a:buChar char="•"/>
            </a:pPr>
            <a:r>
              <a:rPr lang="en-US" sz="1400" dirty="0">
                <a:solidFill>
                  <a:schemeClr val="tx1"/>
                </a:solidFill>
              </a:rPr>
              <a:t>Deployed: API on Render, Android APK via EAS, iPhone via Expo Go</a:t>
            </a:r>
            <a:endParaRPr lang="en-US" sz="1400" dirty="0"/>
          </a:p>
        </p:txBody>
      </p:sp>
      <p:sp>
        <p:nvSpPr>
          <p:cNvPr id="6" name="next panel"/>
          <p:cNvSpPr/>
          <p:nvPr/>
        </p:nvSpPr>
        <p:spPr>
          <a:xfrm>
            <a:off x="6629400" y="1417320"/>
            <a:ext cx="5029200" cy="4663440"/>
          </a:xfrm>
          <a:prstGeom prst="roundRect">
            <a:avLst>
              <a:gd name="adj" fmla="val 3529"/>
            </a:avLst>
          </a:prstGeom>
          <a:solidFill>
            <a:schemeClr val="accent1"/>
          </a:solidFill>
          <a:ln w="12700">
            <a:solidFill>
              <a:schemeClr val="accent1"/>
            </a:solidFill>
            <a:prstDash val="solid"/>
          </a:ln>
          <a:effectLst>
            <a:outerShdw sx="100000" sy="100000" kx="0" ky="0" algn="bl" rotWithShape="0" blurRad="76200" dist="25400" dir="5400000">
              <a:srgbClr val="141310">
                <a:alpha val="18000"/>
              </a:srgbClr>
            </a:outerShdw>
          </a:effectLst>
        </p:spPr>
      </p:sp>
      <p:sp>
        <p:nvSpPr>
          <p:cNvPr id="7" name="next head"/>
          <p:cNvSpPr txBox="1"/>
          <p:nvPr/>
        </p:nvSpPr>
        <p:spPr>
          <a:xfrm>
            <a:off x="6903720" y="1554480"/>
            <a:ext cx="4572000" cy="411480"/>
          </a:xfrm>
          <a:prstGeom prst="rect">
            <a:avLst/>
          </a:prstGeom>
          <a:noFill/>
          <a:ln/>
        </p:spPr>
        <p:txBody>
          <a:bodyPr wrap="square" lIns="0" tIns="0" rIns="0" bIns="0" rtlCol="0" anchor="ctr"/>
          <a:lstStyle/>
          <a:p>
            <a:pPr indent="0" marL="0">
              <a:buNone/>
            </a:pPr>
            <a:r>
              <a:rPr lang="en-US" sz="1800" b="1" dirty="0">
                <a:solidFill>
                  <a:schemeClr val="tx1"/>
                </a:solidFill>
              </a:rPr>
              <a:t>Next</a:t>
            </a:r>
            <a:endParaRPr lang="en-US" sz="1800" dirty="0"/>
          </a:p>
        </p:txBody>
      </p:sp>
      <p:sp>
        <p:nvSpPr>
          <p:cNvPr id="8" name="next 30 days head"/>
          <p:cNvSpPr txBox="1"/>
          <p:nvPr/>
        </p:nvSpPr>
        <p:spPr>
          <a:xfrm>
            <a:off x="6903720" y="2148840"/>
            <a:ext cx="1280160" cy="365760"/>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30 days</a:t>
            </a:r>
            <a:endParaRPr lang="en-US" sz="1400" dirty="0"/>
          </a:p>
        </p:txBody>
      </p:sp>
      <p:sp>
        <p:nvSpPr>
          <p:cNvPr id="9" name="next 30 days body"/>
          <p:cNvSpPr txBox="1"/>
          <p:nvPr/>
        </p:nvSpPr>
        <p:spPr>
          <a:xfrm>
            <a:off x="8183880" y="2148840"/>
            <a:ext cx="3291840" cy="1005840"/>
          </a:xfrm>
          <a:prstGeom prst="rect">
            <a:avLst/>
          </a:prstGeom>
          <a:noFill/>
          <a:ln/>
        </p:spPr>
        <p:txBody>
          <a:bodyPr wrap="square" lIns="0" tIns="0" rIns="0" bIns="0" rtlCol="0" anchor="t"/>
          <a:lstStyle/>
          <a:p>
            <a:pPr indent="0" marL="0">
              <a:buNone/>
            </a:pPr>
            <a:r>
              <a:rPr lang="en-US" sz="1400" dirty="0">
                <a:solidFill>
                  <a:schemeClr val="tx1"/>
                </a:solidFill>
              </a:rPr>
              <a:t>Push notifications for the morning issue, offline reading, a shareable issue link</a:t>
            </a:r>
            <a:endParaRPr lang="en-US" sz="1400" dirty="0"/>
          </a:p>
        </p:txBody>
      </p:sp>
      <p:sp>
        <p:nvSpPr>
          <p:cNvPr id="10" name="next 90 days head"/>
          <p:cNvSpPr txBox="1"/>
          <p:nvPr/>
        </p:nvSpPr>
        <p:spPr>
          <a:xfrm>
            <a:off x="6903720" y="3429000"/>
            <a:ext cx="1280160" cy="365760"/>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90 days</a:t>
            </a:r>
            <a:endParaRPr lang="en-US" sz="1400" dirty="0"/>
          </a:p>
        </p:txBody>
      </p:sp>
      <p:sp>
        <p:nvSpPr>
          <p:cNvPr id="11" name="next 90 days body"/>
          <p:cNvSpPr txBox="1"/>
          <p:nvPr/>
        </p:nvSpPr>
        <p:spPr>
          <a:xfrm>
            <a:off x="8183880" y="3429000"/>
            <a:ext cx="3291840" cy="1005840"/>
          </a:xfrm>
          <a:prstGeom prst="rect">
            <a:avLst/>
          </a:prstGeom>
          <a:noFill/>
          <a:ln/>
        </p:spPr>
        <p:txBody>
          <a:bodyPr wrap="square" lIns="0" tIns="0" rIns="0" bIns="0" rtlCol="0" anchor="t"/>
          <a:lstStyle/>
          <a:p>
            <a:pPr indent="0" marL="0">
              <a:buNone/>
            </a:pPr>
            <a:r>
              <a:rPr lang="en-US" sz="1400" dirty="0">
                <a:solidFill>
                  <a:schemeClr val="tx1"/>
                </a:solidFill>
              </a:rPr>
              <a:t>Spaced repetition from the quiz results, a weekly review deck, Plus subscription</a:t>
            </a:r>
            <a:endParaRPr lang="en-US" sz="1400" dirty="0"/>
          </a:p>
        </p:txBody>
      </p:sp>
      <p:sp>
        <p:nvSpPr>
          <p:cNvPr id="12" name="next Later head"/>
          <p:cNvSpPr txBox="1"/>
          <p:nvPr/>
        </p:nvSpPr>
        <p:spPr>
          <a:xfrm>
            <a:off x="6903720" y="4709160"/>
            <a:ext cx="1280160" cy="365760"/>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Later</a:t>
            </a:r>
            <a:endParaRPr lang="en-US" sz="1400" dirty="0"/>
          </a:p>
        </p:txBody>
      </p:sp>
      <p:sp>
        <p:nvSpPr>
          <p:cNvPr id="13" name="next Later body"/>
          <p:cNvSpPr txBox="1"/>
          <p:nvPr/>
        </p:nvSpPr>
        <p:spPr>
          <a:xfrm>
            <a:off x="8183880" y="4709160"/>
            <a:ext cx="3291840" cy="1005840"/>
          </a:xfrm>
          <a:prstGeom prst="rect">
            <a:avLst/>
          </a:prstGeom>
          <a:noFill/>
          <a:ln/>
        </p:spPr>
        <p:txBody>
          <a:bodyPr wrap="square" lIns="0" tIns="0" rIns="0" bIns="0" rtlCol="0" anchor="t"/>
          <a:lstStyle/>
          <a:p>
            <a:pPr indent="0" marL="0">
              <a:buNone/>
            </a:pPr>
            <a:r>
              <a:rPr lang="en-US" sz="1400" dirty="0">
                <a:solidFill>
                  <a:schemeClr val="tx1"/>
                </a:solidFill>
              </a:rPr>
              <a:t>Teams tier, creator feeds, more languages, on-device speech</a:t>
            </a:r>
            <a:endParaRPr lang="en-US" sz="1400" dirty="0"/>
          </a:p>
        </p:txBody>
      </p:sp>
      <p:sp>
        <p:nvSpPr>
          <p:cNvPr id="14" name="chip Contents"/>
          <p:cNvSpPr/>
          <p:nvPr/>
        </p:nvSpPr>
        <p:spPr>
          <a:xfrm>
            <a:off x="10058400" y="6355080"/>
            <a:ext cx="1097280" cy="329184"/>
          </a:xfrm>
          <a:prstGeom prst="roundRect">
            <a:avLst>
              <a:gd name="adj" fmla="val 33333"/>
            </a:avLst>
          </a:prstGeom>
          <a:solidFill>
            <a:schemeClr val="bg2"/>
          </a:solidFill>
          <a:ln w="12700">
            <a:solidFill>
              <a:schemeClr val="bg2"/>
            </a:solidFill>
            <a:prstDash val="solid"/>
          </a:ln>
          <a:effectLst>
            <a:outerShdw sx="100000" sy="100000" kx="0" ky="0" algn="bl" rotWithShape="0" blurRad="76200" dist="25400" dir="5400000">
              <a:srgbClr val="141310">
                <a:alpha val="18000"/>
              </a:srgbClr>
            </a:outerShdw>
          </a:effectLst>
        </p:spPr>
      </p:sp>
      <p:sp>
        <p:nvSpPr>
          <p:cNvPr id="15" name="chip Contents label">
            <a:hlinkClick r:id="rId1" tooltip="Back to the contents" action="ppaction://hlinksldjump"/>
          </p:cNvPr>
          <p:cNvSpPr txBox="1"/>
          <p:nvPr/>
        </p:nvSpPr>
        <p:spPr>
          <a:xfrm>
            <a:off x="10058400" y="6355080"/>
            <a:ext cx="1097280" cy="329184"/>
          </a:xfrm>
          <a:prstGeom prst="rect">
            <a:avLst/>
          </a:prstGeom>
          <a:noFill/>
          <a:ln/>
        </p:spPr>
        <p:txBody>
          <a:bodyPr wrap="square" lIns="0" tIns="0" rIns="0" bIns="0" rtlCol="0" anchor="ctr"/>
          <a:lstStyle/>
          <a:p>
            <a:pPr algn="ctr" indent="0" marL="0">
              <a:buNone/>
            </a:pPr>
            <a:r>
              <a:rPr lang="en-US" sz="1000" b="1" u="sng" dirty="0">
                <a:solidFill>
                  <a:schemeClr val="tx1"/>
                </a:solidFill>
                <a:hlinkClick r:id="rId1" action="ppaction://hlinksldjump" tooltip="Back to the contents">
                  <a:extLst>
                    <a:ext uri="{A12FA001-AC4F-418D-AE19-62706E023703}">
                      <ahyp:hlinkClr xmlns:ahyp="http://schemas.microsoft.com/office/drawing/2018/hyperlinkcolor" val="tx"/>
                    </a:ext>
                  </a:extLst>
                </a:hlinkClick>
              </a:rPr>
              <a:t>Contents</a:t>
            </a:r>
            <a:endParaRPr lang="en-US" sz="10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close head"/>
          <p:cNvSpPr txBox="1"/>
          <p:nvPr/>
        </p:nvSpPr>
        <p:spPr>
          <a:xfrm>
            <a:off x="640080" y="1280160"/>
            <a:ext cx="6858000" cy="1097280"/>
          </a:xfrm>
          <a:prstGeom prst="rect">
            <a:avLst/>
          </a:prstGeom>
          <a:noFill/>
          <a:ln/>
        </p:spPr>
        <p:txBody>
          <a:bodyPr wrap="square" lIns="0" tIns="0" rIns="0" bIns="0" rtlCol="0" anchor="ctr"/>
          <a:lstStyle/>
          <a:p>
            <a:pPr indent="0" marL="0">
              <a:buNone/>
            </a:pPr>
            <a:r>
              <a:rPr lang="en-US" sz="6000" b="1" dirty="0">
                <a:solidFill>
                  <a:schemeClr val="accent1"/>
                </a:solidFill>
              </a:rPr>
              <a:t>Try CurioX</a:t>
            </a:r>
            <a:endParaRPr lang="en-US" sz="6000" dirty="0"/>
          </a:p>
        </p:txBody>
      </p:sp>
      <p:sp>
        <p:nvSpPr>
          <p:cNvPr id="3" name="close sub"/>
          <p:cNvSpPr txBox="1"/>
          <p:nvPr/>
        </p:nvSpPr>
        <p:spPr>
          <a:xfrm>
            <a:off x="640080" y="2468880"/>
            <a:ext cx="6766560" cy="822960"/>
          </a:xfrm>
          <a:prstGeom prst="rect">
            <a:avLst/>
          </a:prstGeom>
          <a:noFill/>
          <a:ln/>
        </p:spPr>
        <p:txBody>
          <a:bodyPr wrap="square" lIns="0" tIns="0" rIns="0" bIns="0" rtlCol="0" anchor="ctr"/>
          <a:lstStyle/>
          <a:p>
            <a:pPr indent="0" marL="0">
              <a:buNone/>
            </a:pPr>
            <a:r>
              <a:rPr lang="en-US" sz="2200" dirty="0">
                <a:solidFill>
                  <a:schemeClr val="bg2"/>
                </a:solidFill>
              </a:rPr>
              <a:t>Five questions, then your first issue is ready. No sign-up.</a:t>
            </a:r>
            <a:endParaRPr lang="en-US" sz="2200" dirty="0"/>
          </a:p>
        </p:txBody>
      </p:sp>
      <p:sp>
        <p:nvSpPr>
          <p:cNvPr id="4" name="close repo"/>
          <p:cNvSpPr txBox="1"/>
          <p:nvPr/>
        </p:nvSpPr>
        <p:spPr>
          <a:xfrm>
            <a:off x="640080" y="3657600"/>
            <a:ext cx="6766560" cy="411480"/>
          </a:xfrm>
          <a:prstGeom prst="rect">
            <a:avLst/>
          </a:prstGeom>
          <a:noFill/>
          <a:ln/>
        </p:spPr>
        <p:txBody>
          <a:bodyPr wrap="square" lIns="0" tIns="0" rIns="0" bIns="0" rtlCol="0" anchor="ctr"/>
          <a:lstStyle/>
          <a:p>
            <a:pPr indent="0" marL="0">
              <a:buNone/>
            </a:pPr>
            <a:r>
              <a:rPr lang="en-US" sz="1500" b="1" dirty="0">
                <a:solidFill>
                  <a:srgbClr val="FFB81C"/>
                </a:solidFill>
                <a:latin typeface="Courier New" pitchFamily="34" charset="0"/>
                <a:ea typeface="Courier New" pitchFamily="34" charset="-122"/>
                <a:cs typeface="Courier New" pitchFamily="34" charset="-120"/>
              </a:rPr>
              <a:t>Code  </a:t>
            </a:r>
            <a:pPr indent="0" marL="0">
              <a:buNone/>
            </a:pPr>
            <a:r>
              <a:rPr lang="en-US" sz="1500" u="sng" dirty="0">
                <a:solidFill>
                  <a:srgbClr val="FBFAF6"/>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github.com/surya16495/hackathon-cogniv8-CurioX</a:t>
            </a:r>
            <a:endParaRPr lang="en-US" sz="1500" dirty="0"/>
          </a:p>
        </p:txBody>
      </p:sp>
      <p:sp>
        <p:nvSpPr>
          <p:cNvPr id="5" name="close run"/>
          <p:cNvSpPr txBox="1"/>
          <p:nvPr/>
        </p:nvSpPr>
        <p:spPr>
          <a:xfrm>
            <a:off x="640080" y="4114800"/>
            <a:ext cx="6766560" cy="411480"/>
          </a:xfrm>
          <a:prstGeom prst="rect">
            <a:avLst/>
          </a:prstGeom>
          <a:noFill/>
          <a:ln/>
        </p:spPr>
        <p:txBody>
          <a:bodyPr wrap="square" lIns="0" tIns="0" rIns="0" bIns="0" rtlCol="0" anchor="ctr"/>
          <a:lstStyle/>
          <a:p>
            <a:pPr indent="0" marL="0">
              <a:buNone/>
            </a:pPr>
            <a:r>
              <a:rPr lang="en-US" sz="1500" b="1" dirty="0">
                <a:solidFill>
                  <a:srgbClr val="FFB81C"/>
                </a:solidFill>
                <a:latin typeface="Courier New" pitchFamily="34" charset="0"/>
                <a:ea typeface="Courier New" pitchFamily="34" charset="-122"/>
                <a:cs typeface="Courier New" pitchFamily="34" charset="-120"/>
              </a:rPr>
              <a:t>Run it  </a:t>
            </a:r>
            <a:pPr indent="0" marL="0">
              <a:buNone/>
            </a:pPr>
            <a:r>
              <a:rPr lang="en-US" sz="1500" dirty="0">
                <a:solidFill>
                  <a:srgbClr val="FBFAF6"/>
                </a:solidFill>
                <a:latin typeface="Courier New" pitchFamily="34" charset="0"/>
                <a:ea typeface="Courier New" pitchFamily="34" charset="-122"/>
                <a:cs typeface="Courier New" pitchFamily="34" charset="-120"/>
              </a:rPr>
              <a:t>npm install, npm run dev:server, npm run dev:mobile, scan with Expo Go</a:t>
            </a:r>
            <a:endParaRPr lang="en-US" sz="1500" dirty="0"/>
          </a:p>
        </p:txBody>
      </p:sp>
      <p:sp>
        <p:nvSpPr>
          <p:cNvPr id="6" name="close byline"/>
          <p:cNvSpPr txBox="1"/>
          <p:nvPr/>
        </p:nvSpPr>
        <p:spPr>
          <a:xfrm>
            <a:off x="640080" y="5120640"/>
            <a:ext cx="6766560" cy="365760"/>
          </a:xfrm>
          <a:prstGeom prst="rect">
            <a:avLst/>
          </a:prstGeom>
          <a:noFill/>
          <a:ln/>
        </p:spPr>
        <p:txBody>
          <a:bodyPr wrap="square" lIns="0" tIns="0" rIns="0" bIns="0" rtlCol="0" anchor="ctr"/>
          <a:lstStyle/>
          <a:p>
            <a:pPr indent="0" marL="0">
              <a:buNone/>
            </a:pPr>
            <a:r>
              <a:rPr lang="en-US" sz="1400" dirty="0">
                <a:solidFill>
                  <a:schemeClr val="accent6"/>
                </a:solidFill>
                <a:latin typeface="Courier New" pitchFamily="34" charset="0"/>
                <a:ea typeface="Courier New" pitchFamily="34" charset="-122"/>
                <a:cs typeface="Courier New" pitchFamily="34" charset="-120"/>
              </a:rPr>
              <a:t>Team cogniv8  ·  Apty Hackathon 2026  ·  Thank you</a:t>
            </a:r>
            <a:endParaRPr lang="en-US" sz="1400" dirty="0"/>
          </a:p>
        </p:txBody>
      </p:sp>
      <p:sp>
        <p:nvSpPr>
          <p:cNvPr id="7" name="chip Back to contents"/>
          <p:cNvSpPr/>
          <p:nvPr/>
        </p:nvSpPr>
        <p:spPr>
          <a:xfrm>
            <a:off x="640080" y="5669280"/>
            <a:ext cx="2011680" cy="457200"/>
          </a:xfrm>
          <a:prstGeom prst="roundRect">
            <a:avLst>
              <a:gd name="adj" fmla="val 24000"/>
            </a:avLst>
          </a:prstGeom>
          <a:solidFill>
            <a:schemeClr val="accent1"/>
          </a:solidFill>
          <a:ln w="12700">
            <a:solidFill>
              <a:schemeClr val="accent1"/>
            </a:solidFill>
            <a:prstDash val="solid"/>
          </a:ln>
          <a:effectLst>
            <a:outerShdw sx="100000" sy="100000" kx="0" ky="0" algn="bl" rotWithShape="0" blurRad="76200" dist="25400" dir="5400000">
              <a:srgbClr val="141310">
                <a:alpha val="18000"/>
              </a:srgbClr>
            </a:outerShdw>
          </a:effectLst>
        </p:spPr>
      </p:sp>
      <p:sp>
        <p:nvSpPr>
          <p:cNvPr id="8" name="chip Back to contents label">
            <a:hlinkClick r:id="rId2" tooltip="Back to contents" action="ppaction://hlinksldjump"/>
          </p:cNvPr>
          <p:cNvSpPr txBox="1"/>
          <p:nvPr/>
        </p:nvSpPr>
        <p:spPr>
          <a:xfrm>
            <a:off x="640080" y="5669280"/>
            <a:ext cx="2011680" cy="457200"/>
          </a:xfrm>
          <a:prstGeom prst="rect">
            <a:avLst/>
          </a:prstGeom>
          <a:noFill/>
          <a:ln/>
        </p:spPr>
        <p:txBody>
          <a:bodyPr wrap="square" lIns="0" tIns="0" rIns="0" bIns="0" rtlCol="0" anchor="ctr"/>
          <a:lstStyle/>
          <a:p>
            <a:pPr algn="ctr" indent="0" marL="0">
              <a:buNone/>
            </a:pPr>
            <a:r>
              <a:rPr lang="en-US" sz="1300" b="1" u="sng" dirty="0">
                <a:solidFill>
                  <a:schemeClr val="tx1"/>
                </a:solidFill>
                <a:hlinkClick r:id="rId2" action="ppaction://hlinksldjump" tooltip="Back to contents">
                  <a:extLst>
                    <a:ext uri="{A12FA001-AC4F-418D-AE19-62706E023703}">
                      <ahyp:hlinkClr xmlns:ahyp="http://schemas.microsoft.com/office/drawing/2018/hyperlinkcolor" val="tx"/>
                    </a:ext>
                  </a:extLst>
                </a:hlinkClick>
              </a:rPr>
              <a:t>Back to contents</a:t>
            </a:r>
            <a:endParaRPr lang="en-US" sz="1300" dirty="0"/>
          </a:p>
        </p:txBody>
      </p:sp>
      <p:sp>
        <p:nvSpPr>
          <p:cNvPr id="9" name="01-opening frame"/>
          <p:cNvSpPr/>
          <p:nvPr/>
        </p:nvSpPr>
        <p:spPr>
          <a:xfrm>
            <a:off x="8714232" y="621792"/>
            <a:ext cx="2663201" cy="5614416"/>
          </a:xfrm>
          <a:prstGeom prst="roundRect">
            <a:avLst>
              <a:gd name="adj" fmla="val 7554"/>
            </a:avLst>
          </a:prstGeom>
          <a:solidFill>
            <a:schemeClr val="tx1"/>
          </a:solidFill>
          <a:ln/>
          <a:effectLst>
            <a:outerShdw sx="100000" sy="100000" kx="0" ky="0" algn="bl" rotWithShape="0" blurRad="76200" dist="25400" dir="5400000">
              <a:srgbClr val="141310">
                <a:alpha val="18000"/>
              </a:srgbClr>
            </a:outerShdw>
          </a:effectLst>
        </p:spPr>
      </p:sp>
      <p:pic>
        <p:nvPicPr>
          <p:cNvPr id="10" name="01-opening screen" descr="/private/tmp/claude-502/-Users-surya-Desktop-Hackathon-Team-cogniv8--F-/77fb1a42-404d-4abc-a9b4-2d62a58e4298/scratchpad/deck/img/01-opening.jpg">
            <a:hlinkClick r:id="rId4" tooltip="Jump to this part" action="ppaction://hlinksldjump"/>
          </p:cNvPr>
          <p:cNvPicPr>
            <a:picLocks noChangeAspect="1"/>
          </p:cNvPicPr>
          <p:nvPr/>
        </p:nvPicPr>
        <p:blipFill>
          <a:blip r:embed="rId3"/>
          <a:stretch>
            <a:fillRect/>
          </a:stretch>
        </p:blipFill>
        <p:spPr>
          <a:xfrm>
            <a:off x="8778240" y="685800"/>
            <a:ext cx="2535185" cy="5486400"/>
          </a:xfrm>
          <a:prstGeom prst="rect">
            <a:avLst/>
          </a:prstGeom>
        </p:spPr>
      </p:pic>
    </p:spTree>
  </p:cSld>
  <p:clrMapOvr>
    <a:masterClrMapping/>
  </p:clrMapOvr>
  <p:transition spd="med">
    <p:fade/>
  </p:transition>
</p:sld>
</file>

<file path=ppt/theme/theme1.xml><?xml version="1.0" encoding="utf-8"?>
<a:theme xmlns:a="http://schemas.openxmlformats.org/drawingml/2006/main" name="CurioX Zine">
  <a:themeElements>
    <a:clrScheme name="CurioX Zine">
      <a:dk1>
        <a:srgbClr val="141310"/>
      </a:dk1>
      <a:lt1>
        <a:srgbClr val="F4F4F1"/>
      </a:lt1>
      <a:dk2>
        <a:srgbClr val="45423B"/>
      </a:dk2>
      <a:lt2>
        <a:srgbClr val="FBFAF6"/>
      </a:lt2>
      <a:accent1>
        <a:srgbClr val="FFB81C"/>
      </a:accent1>
      <a:accent2>
        <a:srgbClr val="1D3FBF"/>
      </a:accent2>
      <a:accent3>
        <a:srgbClr val="0B7A4B"/>
      </a:accent3>
      <a:accent4>
        <a:srgbClr val="C62828"/>
      </a:accent4>
      <a:accent5>
        <a:srgbClr val="4D3B00"/>
      </a:accent5>
      <a:accent6>
        <a:srgbClr val="8B8982"/>
      </a:accent6>
      <a:hlink>
        <a:srgbClr val="1D3FBF"/>
      </a:hlink>
      <a:folHlink>
        <a:srgbClr val="45423B"/>
      </a:folHlink>
    </a:clrScheme>
    <a:fontScheme name="CurioX Zin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Team cogniv8</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CurioX: a daily issue of what you care about, explained your way</dc:title>
  <dc:subject>PptxGenJS Presentation</dc:subject>
  <dc:creator>Team cogniv8</dc:creator>
  <cp:lastModifiedBy>Team cogniv8</cp:lastModifiedBy>
  <cp:revision>1</cp:revision>
  <dcterms:created xsi:type="dcterms:W3CDTF">2026-10-09T22:48:57Z</dcterms:created>
  <dcterms:modified xsi:type="dcterms:W3CDTF">2026-10-09T22:48:57Z</dcterms:modified>
</cp:coreProperties>
</file>